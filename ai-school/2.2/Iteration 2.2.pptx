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x="18288000" cy="10287000"/>
  <p:notesSz cx="6858000" cy="9144000"/>
  <p:embeddedFontLst>
    <p:embeddedFont>
      <p:font typeface="JetBrains Mono" charset="1" panose="02010509020102050004"/>
      <p:regular r:id="rId41"/>
    </p:embeddedFont>
    <p:embeddedFont>
      <p:font typeface="Kaushan Script" charset="1" panose="03060602040705080205"/>
      <p:regular r:id="rId42"/>
    </p:embeddedFont>
    <p:embeddedFont>
      <p:font typeface="JetBrains Mono Bold" charset="1" panose="02010809030102050004"/>
      <p:regular r:id="rId43"/>
    </p:embeddedFont>
    <p:embeddedFont>
      <p:font typeface="JetBrains Mono Italics" charset="1" panose="02010509020102050004"/>
      <p:regular r:id="rId44"/>
    </p:embeddedFont>
    <p:embeddedFont>
      <p:font typeface="Canva Sans Bold" charset="1" panose="020B0803030501040103"/>
      <p:regular r:id="rId45"/>
    </p:embeddedFont>
    <p:embeddedFont>
      <p:font typeface="Canva Sans" charset="1" panose="020B0503030501040103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170744" y="375272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6027" y="1462767"/>
            <a:ext cx="13771673" cy="6201585"/>
            <a:chOff x="0" y="0"/>
            <a:chExt cx="3627107" cy="163333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27107" cy="1633339"/>
            </a:xfrm>
            <a:custGeom>
              <a:avLst/>
              <a:gdLst/>
              <a:ahLst/>
              <a:cxnLst/>
              <a:rect r="r" b="b" t="t" l="l"/>
              <a:pathLst>
                <a:path h="1633339" w="3627107">
                  <a:moveTo>
                    <a:pt x="28670" y="0"/>
                  </a:moveTo>
                  <a:lnTo>
                    <a:pt x="3598437" y="0"/>
                  </a:lnTo>
                  <a:cubicBezTo>
                    <a:pt x="3614271" y="0"/>
                    <a:pt x="3627107" y="12836"/>
                    <a:pt x="3627107" y="28670"/>
                  </a:cubicBezTo>
                  <a:lnTo>
                    <a:pt x="3627107" y="1604669"/>
                  </a:lnTo>
                  <a:cubicBezTo>
                    <a:pt x="3627107" y="1612273"/>
                    <a:pt x="3624087" y="1619565"/>
                    <a:pt x="3618710" y="1624942"/>
                  </a:cubicBezTo>
                  <a:cubicBezTo>
                    <a:pt x="3613333" y="1630319"/>
                    <a:pt x="3606041" y="1633339"/>
                    <a:pt x="3598437" y="1633339"/>
                  </a:cubicBezTo>
                  <a:lnTo>
                    <a:pt x="28670" y="1633339"/>
                  </a:lnTo>
                  <a:cubicBezTo>
                    <a:pt x="12836" y="1633339"/>
                    <a:pt x="0" y="1620503"/>
                    <a:pt x="0" y="1604669"/>
                  </a:cubicBezTo>
                  <a:lnTo>
                    <a:pt x="0" y="28670"/>
                  </a:lnTo>
                  <a:cubicBezTo>
                    <a:pt x="0" y="12836"/>
                    <a:pt x="12836" y="0"/>
                    <a:pt x="28670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627107" cy="16714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355322" y="1959801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809491" y="1959801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3261799" y="1959801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810257" y="6531115"/>
            <a:ext cx="213757" cy="213757"/>
            <a:chOff x="0" y="0"/>
            <a:chExt cx="635000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390678" y="5629912"/>
            <a:ext cx="6240712" cy="3043916"/>
            <a:chOff x="0" y="0"/>
            <a:chExt cx="3173713" cy="1547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73713" cy="1547983"/>
            </a:xfrm>
            <a:custGeom>
              <a:avLst/>
              <a:gdLst/>
              <a:ahLst/>
              <a:cxnLst/>
              <a:rect r="r" b="b" t="t" l="l"/>
              <a:pathLst>
                <a:path h="1547983" w="3173713">
                  <a:moveTo>
                    <a:pt x="21089" y="0"/>
                  </a:moveTo>
                  <a:lnTo>
                    <a:pt x="3152623" y="0"/>
                  </a:lnTo>
                  <a:cubicBezTo>
                    <a:pt x="3158217" y="0"/>
                    <a:pt x="3163581" y="2222"/>
                    <a:pt x="3167536" y="6177"/>
                  </a:cubicBezTo>
                  <a:cubicBezTo>
                    <a:pt x="3171491" y="10132"/>
                    <a:pt x="3173713" y="15496"/>
                    <a:pt x="3173713" y="21089"/>
                  </a:cubicBezTo>
                  <a:lnTo>
                    <a:pt x="3173713" y="1526894"/>
                  </a:lnTo>
                  <a:cubicBezTo>
                    <a:pt x="3173713" y="1532487"/>
                    <a:pt x="3171491" y="1537851"/>
                    <a:pt x="3167536" y="1541806"/>
                  </a:cubicBezTo>
                  <a:cubicBezTo>
                    <a:pt x="3163581" y="1545761"/>
                    <a:pt x="3158217" y="1547983"/>
                    <a:pt x="3152623" y="1547983"/>
                  </a:cubicBezTo>
                  <a:lnTo>
                    <a:pt x="21089" y="1547983"/>
                  </a:lnTo>
                  <a:cubicBezTo>
                    <a:pt x="15496" y="1547983"/>
                    <a:pt x="10132" y="1545761"/>
                    <a:pt x="6177" y="1541806"/>
                  </a:cubicBezTo>
                  <a:cubicBezTo>
                    <a:pt x="2222" y="1537851"/>
                    <a:pt x="0" y="1532487"/>
                    <a:pt x="0" y="1526894"/>
                  </a:cubicBezTo>
                  <a:lnTo>
                    <a:pt x="0" y="21089"/>
                  </a:lnTo>
                  <a:cubicBezTo>
                    <a:pt x="0" y="15496"/>
                    <a:pt x="2222" y="10132"/>
                    <a:pt x="6177" y="6177"/>
                  </a:cubicBezTo>
                  <a:cubicBezTo>
                    <a:pt x="10132" y="2222"/>
                    <a:pt x="15496" y="0"/>
                    <a:pt x="21089" y="0"/>
                  </a:cubicBezTo>
                  <a:close/>
                </a:path>
              </a:pathLst>
            </a:custGeom>
            <a:solidFill>
              <a:srgbClr val="20242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3173713" cy="15860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715710" y="5929565"/>
            <a:ext cx="179985" cy="179985"/>
            <a:chOff x="0" y="0"/>
            <a:chExt cx="6350000" cy="6350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50920" y="5929565"/>
            <a:ext cx="179985" cy="179985"/>
            <a:chOff x="0" y="0"/>
            <a:chExt cx="6350000" cy="63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185168" y="5929565"/>
            <a:ext cx="179985" cy="179985"/>
            <a:chOff x="0" y="0"/>
            <a:chExt cx="6350000" cy="635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631390" y="-124893"/>
            <a:ext cx="2401212" cy="4169388"/>
            <a:chOff x="0" y="0"/>
            <a:chExt cx="632418" cy="109811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418" cy="1098110"/>
            </a:xfrm>
            <a:custGeom>
              <a:avLst/>
              <a:gdLst/>
              <a:ahLst/>
              <a:cxnLst/>
              <a:rect r="r" b="b" t="t" l="l"/>
              <a:pathLst>
                <a:path h="1098110" w="632418">
                  <a:moveTo>
                    <a:pt x="99949" y="0"/>
                  </a:moveTo>
                  <a:lnTo>
                    <a:pt x="532469" y="0"/>
                  </a:lnTo>
                  <a:cubicBezTo>
                    <a:pt x="587669" y="0"/>
                    <a:pt x="632418" y="44749"/>
                    <a:pt x="632418" y="99949"/>
                  </a:cubicBezTo>
                  <a:lnTo>
                    <a:pt x="632418" y="998161"/>
                  </a:lnTo>
                  <a:cubicBezTo>
                    <a:pt x="632418" y="1053361"/>
                    <a:pt x="587669" y="1098110"/>
                    <a:pt x="532469" y="1098110"/>
                  </a:cubicBezTo>
                  <a:lnTo>
                    <a:pt x="99949" y="1098110"/>
                  </a:lnTo>
                  <a:cubicBezTo>
                    <a:pt x="44749" y="1098110"/>
                    <a:pt x="0" y="1053361"/>
                    <a:pt x="0" y="998161"/>
                  </a:cubicBezTo>
                  <a:lnTo>
                    <a:pt x="0" y="99949"/>
                  </a:lnTo>
                  <a:cubicBezTo>
                    <a:pt x="0" y="44749"/>
                    <a:pt x="44749" y="0"/>
                    <a:pt x="99949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32418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-5400000">
            <a:off x="16995547" y="2823093"/>
            <a:ext cx="988012" cy="871247"/>
          </a:xfrm>
          <a:custGeom>
            <a:avLst/>
            <a:gdLst/>
            <a:ahLst/>
            <a:cxnLst/>
            <a:rect r="r" b="b" t="t" l="l"/>
            <a:pathLst>
              <a:path h="871247" w="988012">
                <a:moveTo>
                  <a:pt x="0" y="0"/>
                </a:moveTo>
                <a:lnTo>
                  <a:pt x="988011" y="0"/>
                </a:lnTo>
                <a:lnTo>
                  <a:pt x="988011" y="871247"/>
                </a:lnTo>
                <a:lnTo>
                  <a:pt x="0" y="8712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458731" y="3867150"/>
            <a:ext cx="12320897" cy="1226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Linear Regression</a:t>
            </a:r>
          </a:p>
        </p:txBody>
      </p:sp>
      <p:sp>
        <p:nvSpPr>
          <p:cNvPr name="AutoShape 32" id="32"/>
          <p:cNvSpPr/>
          <p:nvPr/>
        </p:nvSpPr>
        <p:spPr>
          <a:xfrm flipV="true">
            <a:off x="12081164" y="3752722"/>
            <a:ext cx="0" cy="1653973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7844839" y="7959139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-5400000">
            <a:off x="16463330" y="1468654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565365" y="2918674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School Iteration 2.2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711916" y="6776585"/>
            <a:ext cx="5543619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E7E5E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By BOULGHERAIF Fatma Zohra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711916" y="6795635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&lt;h4&gt;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24014" y="7396980"/>
            <a:ext cx="837981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&lt;/h4&gt;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01. What is Regression?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32646" cy="891769"/>
            <a:chOff x="0" y="0"/>
            <a:chExt cx="1746870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46870" cy="234869"/>
            </a:xfrm>
            <a:custGeom>
              <a:avLst/>
              <a:gdLst/>
              <a:ahLst/>
              <a:cxnLst/>
              <a:rect r="r" b="b" t="t" l="l"/>
              <a:pathLst>
                <a:path h="234869" w="1746870">
                  <a:moveTo>
                    <a:pt x="0" y="0"/>
                  </a:moveTo>
                  <a:lnTo>
                    <a:pt x="1746870" y="0"/>
                  </a:lnTo>
                  <a:lnTo>
                    <a:pt x="1746870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46870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01. What Is Regression?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853299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773032"/>
            <a:ext cx="12820650" cy="416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👉 </a:t>
            </a: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Regression = Predicting a </a:t>
            </a: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continuous</a:t>
            </a: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9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number</a:t>
            </a:r>
            <a:r>
              <a:rPr lang="en-US" sz="29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as output</a:t>
            </a:r>
          </a:p>
          <a:p>
            <a:pPr algn="l">
              <a:lnSpc>
                <a:spcPts val="4199"/>
              </a:lnSpc>
            </a:pPr>
          </a:p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Examples: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🏠 Predict house prices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🌡️ Predict tomorrow's temperature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🎓 Predict a student's exam score</a:t>
            </a:r>
          </a:p>
          <a:p>
            <a:pPr algn="l" marL="647695" indent="-323848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📈 Predict monthly sales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22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02. Simple Linear Regression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76809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Simple Linear Regression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900345" y="3996869"/>
            <a:ext cx="13965829" cy="547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</a:t>
            </a: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ey idea: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Find 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 straight line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that best describes the relationship between one input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and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on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output.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ŷ = β₀ + β₁x</a:t>
            </a:r>
          </a:p>
          <a:p>
            <a:pPr algn="ctr">
              <a:lnSpc>
                <a:spcPts val="4059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ŷ: Predicted value (dependent variable)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x: Input feature (independent variable)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β₀: Intercept — where the line crosses the y-axis 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β₁: Slope — how much ŷ changes per unit of x 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simple?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Only 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one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independent variable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Why linear?</a:t>
            </a: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equation is a 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linear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function of x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550389" cy="891769"/>
            <a:chOff x="0" y="0"/>
            <a:chExt cx="2515329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15329" cy="234869"/>
            </a:xfrm>
            <a:custGeom>
              <a:avLst/>
              <a:gdLst/>
              <a:ahLst/>
              <a:cxnLst/>
              <a:rect r="r" b="b" t="t" l="l"/>
              <a:pathLst>
                <a:path h="234869" w="2515329">
                  <a:moveTo>
                    <a:pt x="0" y="0"/>
                  </a:moveTo>
                  <a:lnTo>
                    <a:pt x="2515329" y="0"/>
                  </a:lnTo>
                  <a:lnTo>
                    <a:pt x="2515329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15329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450734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5350911" y="3659197"/>
            <a:ext cx="7167328" cy="5044007"/>
          </a:xfrm>
          <a:custGeom>
            <a:avLst/>
            <a:gdLst/>
            <a:ahLst/>
            <a:cxnLst/>
            <a:rect r="r" b="b" t="t" l="l"/>
            <a:pathLst>
              <a:path h="5044007" w="7167328">
                <a:moveTo>
                  <a:pt x="0" y="0"/>
                </a:moveTo>
                <a:lnTo>
                  <a:pt x="7167328" y="0"/>
                </a:lnTo>
                <a:lnTo>
                  <a:pt x="7167328" y="5044007"/>
                </a:lnTo>
                <a:lnTo>
                  <a:pt x="0" y="50440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76809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02. Simple Linear Regression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20063" y="9017529"/>
            <a:ext cx="13691272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There are infinite p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ssible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ines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We need a way to pick the </a:t>
            </a:r>
            <a:r>
              <a:rPr lang="en-US" sz="2200" i="true">
                <a:solidFill>
                  <a:srgbClr val="FFFFFF"/>
                </a:solidFill>
                <a:latin typeface="JetBrains Mono Italics"/>
                <a:ea typeface="JetBrains Mono Italics"/>
                <a:cs typeface="JetBrains Mono Italics"/>
                <a:sym typeface="JetBrains Mono Italics"/>
              </a:rPr>
              <a:t>best</a:t>
            </a:r>
            <a:r>
              <a:rPr lang="en-US" sz="2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one.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70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03. Parameter Optimization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4060732" cy="891769"/>
            <a:chOff x="0" y="0"/>
            <a:chExt cx="1069493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9493" cy="234869"/>
            </a:xfrm>
            <a:custGeom>
              <a:avLst/>
              <a:gdLst/>
              <a:ahLst/>
              <a:cxnLst/>
              <a:rect r="r" b="b" t="t" l="l"/>
              <a:pathLst>
                <a:path h="234869" w="1069493">
                  <a:moveTo>
                    <a:pt x="0" y="0"/>
                  </a:moveTo>
                  <a:lnTo>
                    <a:pt x="1069493" y="0"/>
                  </a:lnTo>
                  <a:lnTo>
                    <a:pt x="1069493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69493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6018227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146674" y="6807720"/>
            <a:ext cx="2573655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📌 Rule of thumb</a:t>
            </a:r>
          </a:p>
        </p:txBody>
      </p:sp>
      <p:sp>
        <p:nvSpPr>
          <p:cNvPr name="AutoShape 21" id="21"/>
          <p:cNvSpPr/>
          <p:nvPr/>
        </p:nvSpPr>
        <p:spPr>
          <a:xfrm flipV="true">
            <a:off x="2240421" y="7163955"/>
            <a:ext cx="0" cy="1362345"/>
          </a:xfrm>
          <a:prstGeom prst="line">
            <a:avLst/>
          </a:prstGeom>
          <a:ln cap="flat" w="57150">
            <a:solidFill>
              <a:srgbClr val="E7E5E5">
                <a:alpha val="19608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2116822" y="4256417"/>
            <a:ext cx="746931" cy="966616"/>
          </a:xfrm>
          <a:custGeom>
            <a:avLst/>
            <a:gdLst/>
            <a:ahLst/>
            <a:cxnLst/>
            <a:rect r="r" b="b" t="t" l="l"/>
            <a:pathLst>
              <a:path h="966616" w="746931">
                <a:moveTo>
                  <a:pt x="0" y="0"/>
                </a:moveTo>
                <a:lnTo>
                  <a:pt x="746931" y="0"/>
                </a:lnTo>
                <a:lnTo>
                  <a:pt x="746931" y="966616"/>
                </a:lnTo>
                <a:lnTo>
                  <a:pt x="0" y="9666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06980" y="2516219"/>
            <a:ext cx="356616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Residuals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380647" y="4326890"/>
            <a:ext cx="12855721" cy="127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 residual is the g</a:t>
            </a:r>
            <a:r>
              <a:rPr lang="en-US" sz="25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ap between the actual value and what the model predicted.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512144" y="7221105"/>
            <a:ext cx="12855721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 supervised learning, the goal is always to </a:t>
            </a: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minimize the gap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between predicted and actual values.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65773" y="5876925"/>
            <a:ext cx="162306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residual = y - ŷ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60992" y="-8877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7380728" cy="891769"/>
            <a:chOff x="0" y="0"/>
            <a:chExt cx="1943895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43895" cy="234869"/>
            </a:xfrm>
            <a:custGeom>
              <a:avLst/>
              <a:gdLst/>
              <a:ahLst/>
              <a:cxnLst/>
              <a:rect r="r" b="b" t="t" l="l"/>
              <a:pathLst>
                <a:path h="234869" w="1943895">
                  <a:moveTo>
                    <a:pt x="0" y="0"/>
                  </a:moveTo>
                  <a:lnTo>
                    <a:pt x="1943895" y="0"/>
                  </a:lnTo>
                  <a:lnTo>
                    <a:pt x="1943895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43895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13270186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168793" y="424226"/>
            <a:ext cx="6663266" cy="4688965"/>
          </a:xfrm>
          <a:custGeom>
            <a:avLst/>
            <a:gdLst/>
            <a:ahLst/>
            <a:cxnLst/>
            <a:rect r="r" b="b" t="t" l="l"/>
            <a:pathLst>
              <a:path h="4688965" w="6663266">
                <a:moveTo>
                  <a:pt x="0" y="0"/>
                </a:moveTo>
                <a:lnTo>
                  <a:pt x="6663267" y="0"/>
                </a:lnTo>
                <a:lnTo>
                  <a:pt x="6663267" y="4688965"/>
                </a:lnTo>
                <a:lnTo>
                  <a:pt x="0" y="468896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63093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Loss function (MSE)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392534" y="6533590"/>
            <a:ext cx="13777079" cy="2645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</a:t>
            </a:r>
            <a:r>
              <a:rPr lang="en-US" sz="25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We square residuals so neg</a:t>
            </a:r>
            <a:r>
              <a:rPr lang="en-US" sz="25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atives don't cancel out positives</a:t>
            </a: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We want this number </a:t>
            </a:r>
            <a:r>
              <a:rPr lang="en-US" sz="25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as small as possible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=&gt; Residual Sum of Squares minimization → leads to the best fit line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729037" y="5466790"/>
            <a:ext cx="11104072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Mean Squared Error (MSE)</a:t>
            </a: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= (1/n) Σ (yᵢ - ŷᵢ)²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5" id="25"/>
          <p:cNvGraphicFramePr>
            <a:graphicFrameLocks noGrp="true"/>
          </p:cNvGraphicFramePr>
          <p:nvPr/>
        </p:nvGraphicFramePr>
        <p:xfrm>
          <a:off x="2006980" y="4044494"/>
          <a:ext cx="14229388" cy="4341110"/>
        </p:xfrm>
        <a:graphic>
          <a:graphicData uri="http://schemas.openxmlformats.org/drawingml/2006/table">
            <a:tbl>
              <a:tblPr/>
              <a:tblGrid>
                <a:gridCol w="7114694"/>
                <a:gridCol w="7114694"/>
              </a:tblGrid>
              <a:tr h="108951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Ordinary Least Squares (OLS)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Gradient Descent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59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 A mathematical formula that solves for β directly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 Closed-form, exact, fast for small datasets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ctr">
                        <a:lnSpc>
                          <a:spcPts val="4199"/>
                        </a:lnSpc>
                      </a:pPr>
                      <a:r>
                        <a:rPr lang="en-US" sz="2999" b="true">
                          <a:solidFill>
                            <a:srgbClr val="FFCF6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β = (XᵀX)⁻¹Xᵀy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No iterations needed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❌ Expensive when data is very large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 An iterative algorithm — takes small steps downhill on the loss curve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- 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Used in most ML frameworks under the hood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✅ Scales to large datasets</a:t>
                      </a: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Requires choosing a </a:t>
                      </a: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learning rate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6" id="26"/>
          <p:cNvSpPr txBox="true"/>
          <p:nvPr/>
        </p:nvSpPr>
        <p:spPr>
          <a:xfrm rot="0">
            <a:off x="2006980" y="2516219"/>
            <a:ext cx="87782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How Do We Minimize the Loss?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980" y="8697092"/>
            <a:ext cx="1432825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Both methods find the same answer. OLS is exact, gradient descent is approximate but scalable.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18382" y="3655491"/>
            <a:ext cx="9469747" cy="6016530"/>
          </a:xfrm>
          <a:custGeom>
            <a:avLst/>
            <a:gdLst/>
            <a:ahLst/>
            <a:cxnLst/>
            <a:rect r="r" b="b" t="t" l="l"/>
            <a:pathLst>
              <a:path h="6016530" w="9469747">
                <a:moveTo>
                  <a:pt x="0" y="0"/>
                </a:moveTo>
                <a:lnTo>
                  <a:pt x="9469747" y="0"/>
                </a:lnTo>
                <a:lnTo>
                  <a:pt x="9469747" y="6016530"/>
                </a:lnTo>
                <a:lnTo>
                  <a:pt x="0" y="60165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87782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How Do We Minimize the Loss?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69343" y="6307521"/>
            <a:ext cx="332020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Learning Curve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666401" y="4389120"/>
            <a:ext cx="955199" cy="147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﻿@🕸️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￼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chhhox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﻿ ur 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Gradient Descent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883471"/>
            <a:ext cx="147273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1 — Forward Pass: compute the prediction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345" y="5105400"/>
            <a:ext cx="12096605" cy="2585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Given the current weights, run the model forward and compute ŷ: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ŷ = w₀ + w₁x₁ + w₂x₂ + ... + wₙxₙ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Then compute the loss: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J(w) = MSE = (1/n) Σ (yᵢ - ŷᵢ)²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Gradient Descent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883471"/>
            <a:ext cx="147273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2 — Measure each parameter's contribution to the loss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980" y="4688651"/>
            <a:ext cx="13518828" cy="4596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 every weight wᵢ we need to know two things: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Direction: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does this value of wᵢ drive the loss up or down?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Magnitude: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by how much?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This is exactly what the </a:t>
            </a: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gradient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tells us: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∇wᵢ  =  ∂J / ∂wᵢ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The gradient is the same concept as a derivative, the slope of the loss with respect to wᵢ at the current point. 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A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positive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gradient means wᵢ is pushing the loss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 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A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negative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gradient means wᵢ is pushing the loss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down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Gradient Descent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883471"/>
            <a:ext cx="147273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3 — Backward Pass: update every parameter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980" y="4688651"/>
            <a:ext cx="14229388" cy="5434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want to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reduce the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loss, so we move each weight in the 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oppos</a:t>
            </a:r>
            <a:r>
              <a:rPr lang="en-US" sz="2400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ite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direction of its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gradient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wᵢ(t+1) = wᵢ(t) − </a:t>
            </a: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η</a:t>
            </a:r>
            <a:r>
              <a:rPr lang="en-US" sz="2400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· ∇wᵢ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Gradient sign | Meaning | What we do |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∇wᵢ &gt; 0 | wᵢ drives loss up | Subtract → reduce wᵢ |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| ∇wᵢ &lt; 0 | wᵢ drives loss down | Subtracting a nega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tive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→ increase wᵢ |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The </a:t>
            </a: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learning rate η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controls the ste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size, how a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gressively we update.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Too large → overshoot the minimum. Too small → painfully sl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ow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vergence.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Gradient Descent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00345" y="3883471"/>
            <a:ext cx="14727335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Step 4 — Repeat until convergence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06980" y="4688651"/>
            <a:ext cx="14229388" cy="33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 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repeat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steps 1–3 for many iterations. Each 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ass: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L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 dec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reases (ideally)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Parameters get closer to their optimal values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Steps get smaller as we approach the minimum (grad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ient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shrinks n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ear flat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regions)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 sto</a:t>
            </a:r>
            <a:r>
              <a:rPr lang="en-US" sz="2400" u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when the loss stops improving significantly → 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co</a:t>
            </a:r>
            <a:r>
              <a:rPr lang="en-US" b="true" sz="2400" u="non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</a:t>
            </a: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vergence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813847" y="-16224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9158239" cy="891769"/>
            <a:chOff x="0" y="0"/>
            <a:chExt cx="24120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12047" cy="234869"/>
            </a:xfrm>
            <a:custGeom>
              <a:avLst/>
              <a:gdLst/>
              <a:ahLst/>
              <a:cxnLst/>
              <a:rect r="r" b="b" t="t" l="l"/>
              <a:pathLst>
                <a:path h="234869" w="2412047">
                  <a:moveTo>
                    <a:pt x="0" y="0"/>
                  </a:moveTo>
                  <a:lnTo>
                    <a:pt x="2412047" y="0"/>
                  </a:lnTo>
                  <a:lnTo>
                    <a:pt x="24120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4120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1058584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118382" y="3800314"/>
            <a:ext cx="9584513" cy="5844775"/>
          </a:xfrm>
          <a:custGeom>
            <a:avLst/>
            <a:gdLst/>
            <a:ahLst/>
            <a:cxnLst/>
            <a:rect r="r" b="b" t="t" l="l"/>
            <a:pathLst>
              <a:path h="5844775" w="9584513">
                <a:moveTo>
                  <a:pt x="0" y="0"/>
                </a:moveTo>
                <a:lnTo>
                  <a:pt x="9584513" y="0"/>
                </a:lnTo>
                <a:lnTo>
                  <a:pt x="9584513" y="5844775"/>
                </a:lnTo>
                <a:lnTo>
                  <a:pt x="0" y="58447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03. Gradient Descent</a:t>
            </a:r>
          </a:p>
        </p:txBody>
      </p:sp>
      <p:sp>
        <p:nvSpPr>
          <p:cNvPr name="TextBox 27" id="27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70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04. Multiple Linear Regression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636171" cy="891769"/>
            <a:chOff x="0" y="0"/>
            <a:chExt cx="2274547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74547" cy="234869"/>
            </a:xfrm>
            <a:custGeom>
              <a:avLst/>
              <a:gdLst/>
              <a:ahLst/>
              <a:cxnLst/>
              <a:rect r="r" b="b" t="t" l="l"/>
              <a:pathLst>
                <a:path h="234869" w="2274547">
                  <a:moveTo>
                    <a:pt x="0" y="0"/>
                  </a:moveTo>
                  <a:lnTo>
                    <a:pt x="2274547" y="0"/>
                  </a:lnTo>
                  <a:lnTo>
                    <a:pt x="2274547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74547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006980" y="2516219"/>
            <a:ext cx="82296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04. Multiple Linear Regression</a:t>
            </a:r>
          </a:p>
        </p:txBody>
      </p:sp>
      <p:sp>
        <p:nvSpPr>
          <p:cNvPr name="AutoShape 20" id="20"/>
          <p:cNvSpPr/>
          <p:nvPr/>
        </p:nvSpPr>
        <p:spPr>
          <a:xfrm flipH="true" flipV="true">
            <a:off x="1053651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900345" y="3706822"/>
            <a:ext cx="13965829" cy="593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K</a:t>
            </a:r>
            <a:r>
              <a:rPr lang="en-US" sz="2400">
                <a:solidFill>
                  <a:srgbClr val="E52C2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ey idea: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concept, more input f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ea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tures.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ŷ = β₀ + β₁x₁ + β₂x₂ + ... + βₙxₙ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Example: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Predicting house price using: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x₁ = size (m²)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x₂ = number of rooms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x₃ = distance from city center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Interpreting coefficients: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β₁ = 200</a:t>
            </a:r>
            <a:r>
              <a:rPr lang="en-US" sz="24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means: for every 1 m² increase in size, the predicted price increases by 200 (holding all other features constant).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55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05. Evaluation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75831" cy="891769"/>
            <a:chOff x="0" y="0"/>
            <a:chExt cx="175824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8244" cy="234869"/>
            </a:xfrm>
            <a:custGeom>
              <a:avLst/>
              <a:gdLst/>
              <a:ahLst/>
              <a:cxnLst/>
              <a:rect r="r" b="b" t="t" l="l"/>
              <a:pathLst>
                <a:path h="234869" w="1758244">
                  <a:moveTo>
                    <a:pt x="0" y="0"/>
                  </a:moveTo>
                  <a:lnTo>
                    <a:pt x="1758244" y="0"/>
                  </a:lnTo>
                  <a:lnTo>
                    <a:pt x="175824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5824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617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4864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Evaluation: RMSE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3623574"/>
            <a:ext cx="13965829" cy="518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Root Mean Squared Error (RMSE)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RMSE</a:t>
            </a: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= √MSE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Same unit as the targ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et variable (i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nterpretable!)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Penalizes </a:t>
            </a: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large errors 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more heavily (due to squaring)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"On average, my predictions are off by X units"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75831" cy="891769"/>
            <a:chOff x="0" y="0"/>
            <a:chExt cx="175824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8244" cy="234869"/>
            </a:xfrm>
            <a:custGeom>
              <a:avLst/>
              <a:gdLst/>
              <a:ahLst/>
              <a:cxnLst/>
              <a:rect r="r" b="b" t="t" l="l"/>
              <a:pathLst>
                <a:path h="234869" w="1758244">
                  <a:moveTo>
                    <a:pt x="0" y="0"/>
                  </a:moveTo>
                  <a:lnTo>
                    <a:pt x="1758244" y="0"/>
                  </a:lnTo>
                  <a:lnTo>
                    <a:pt x="175824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5824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617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52120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Evaluation: MAE</a:t>
            </a: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3623574"/>
            <a:ext cx="13965829" cy="518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Mean Absolute Error (MAE)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MAE</a:t>
            </a: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= (1/n) Σ |yᵢ - ŷᵢ|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Average absolute 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error: simple a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nd robust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Less sensitive to outliers than RMSE</a:t>
            </a:r>
          </a:p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"On average, I'm off by X, treating all errors equally"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746877" y="2856261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6675831" cy="891769"/>
            <a:chOff x="0" y="0"/>
            <a:chExt cx="175824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58244" cy="234869"/>
            </a:xfrm>
            <a:custGeom>
              <a:avLst/>
              <a:gdLst/>
              <a:ahLst/>
              <a:cxnLst/>
              <a:rect r="r" b="b" t="t" l="l"/>
              <a:pathLst>
                <a:path h="234869" w="1758244">
                  <a:moveTo>
                    <a:pt x="0" y="0"/>
                  </a:moveTo>
                  <a:lnTo>
                    <a:pt x="1758244" y="0"/>
                  </a:lnTo>
                  <a:lnTo>
                    <a:pt x="175824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5824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8576176" y="2053326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006980" y="2516219"/>
            <a:ext cx="493776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05. Evaluation: R²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3623574"/>
            <a:ext cx="13965829" cy="6020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R-squared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R²</a:t>
            </a:r>
            <a:r>
              <a:rPr lang="en-US" b="true" sz="2999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= 1 - (SS_res / SS_tot)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Residual Sum of Squares: SS_res = Σ (yᵢ - ŷᵢ)²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CF6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Sum of Squares: SS_tot = Σ (yᵢ - ȳ)²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Measures how well the model explains the variance in the data</a:t>
            </a:r>
          </a:p>
          <a:p>
            <a:pPr algn="l" marL="518160" indent="-259080" lvl="1">
              <a:lnSpc>
                <a:spcPts val="335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Ranges from </a:t>
            </a:r>
            <a:r>
              <a:rPr lang="en-US" b="true" sz="2400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 to 1 (higher is better)</a:t>
            </a: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, can go negative if the model is worse than a flat line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6AC66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"My model explains X% of the variation in the outcome"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682307" cy="11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06. Visual Evaluation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20459" y="-960099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460173" cy="891769"/>
            <a:chOff x="0" y="0"/>
            <a:chExt cx="222819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8194" cy="234869"/>
            </a:xfrm>
            <a:custGeom>
              <a:avLst/>
              <a:gdLst/>
              <a:ahLst/>
              <a:cxnLst/>
              <a:rect r="r" b="b" t="t" l="l"/>
              <a:pathLst>
                <a:path h="234869" w="2228194">
                  <a:moveTo>
                    <a:pt x="0" y="0"/>
                  </a:moveTo>
                  <a:lnTo>
                    <a:pt x="2228194" y="0"/>
                  </a:lnTo>
                  <a:lnTo>
                    <a:pt x="222819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819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360518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00345" y="3766994"/>
            <a:ext cx="6597155" cy="5761876"/>
          </a:xfrm>
          <a:custGeom>
            <a:avLst/>
            <a:gdLst/>
            <a:ahLst/>
            <a:cxnLst/>
            <a:rect r="r" b="b" t="t" l="l"/>
            <a:pathLst>
              <a:path h="5761876" w="6597155">
                <a:moveTo>
                  <a:pt x="0" y="0"/>
                </a:moveTo>
                <a:lnTo>
                  <a:pt x="6597155" y="0"/>
                </a:lnTo>
                <a:lnTo>
                  <a:pt x="6597155" y="5761877"/>
                </a:lnTo>
                <a:lnTo>
                  <a:pt x="0" y="576187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360518" y="4275136"/>
            <a:ext cx="6022107" cy="42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x-axis: actual values, y-axis: predicted values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</a:t>
            </a:r>
            <a:r>
              <a:rPr lang="en-US" sz="26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 </a:t>
            </a:r>
            <a:r>
              <a:rPr lang="en-US" sz="26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 perfect model → all points on the diagonal line y = x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Clusters away from the line reveal systematic errors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2516219"/>
            <a:ext cx="795528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Actual vs. Predicted Plot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20459" y="-960099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460173" cy="891769"/>
            <a:chOff x="0" y="0"/>
            <a:chExt cx="222819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8194" cy="234869"/>
            </a:xfrm>
            <a:custGeom>
              <a:avLst/>
              <a:gdLst/>
              <a:ahLst/>
              <a:cxnLst/>
              <a:rect r="r" b="b" t="t" l="l"/>
              <a:pathLst>
                <a:path h="234869" w="2228194">
                  <a:moveTo>
                    <a:pt x="0" y="0"/>
                  </a:moveTo>
                  <a:lnTo>
                    <a:pt x="2228194" y="0"/>
                  </a:lnTo>
                  <a:lnTo>
                    <a:pt x="222819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819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360518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00345" y="3666845"/>
            <a:ext cx="8297721" cy="6016530"/>
          </a:xfrm>
          <a:custGeom>
            <a:avLst/>
            <a:gdLst/>
            <a:ahLst/>
            <a:cxnLst/>
            <a:rect r="r" b="b" t="t" l="l"/>
            <a:pathLst>
              <a:path h="6016530" w="8297721">
                <a:moveTo>
                  <a:pt x="0" y="0"/>
                </a:moveTo>
                <a:lnTo>
                  <a:pt x="8297721" y="0"/>
                </a:lnTo>
                <a:lnTo>
                  <a:pt x="8297721" y="6016530"/>
                </a:lnTo>
                <a:lnTo>
                  <a:pt x="0" y="60165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24" r="0" b="-224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699489" y="4280525"/>
            <a:ext cx="6022107" cy="42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x-axis: predicted values, y-axis: residuals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Good model → residuals scattered randomly around 0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Patterns in this plot = your model is missing something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2516219"/>
            <a:ext cx="466344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Residual Plot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20459" y="-960099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900345" y="2418025"/>
            <a:ext cx="8460173" cy="891769"/>
            <a:chOff x="0" y="0"/>
            <a:chExt cx="2228194" cy="2348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8194" cy="234869"/>
            </a:xfrm>
            <a:custGeom>
              <a:avLst/>
              <a:gdLst/>
              <a:ahLst/>
              <a:cxnLst/>
              <a:rect r="r" b="b" t="t" l="l"/>
              <a:pathLst>
                <a:path h="234869" w="2228194">
                  <a:moveTo>
                    <a:pt x="0" y="0"/>
                  </a:moveTo>
                  <a:lnTo>
                    <a:pt x="2228194" y="0"/>
                  </a:lnTo>
                  <a:lnTo>
                    <a:pt x="222819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2819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 flipH="true" flipV="true">
            <a:off x="10360518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22730" y="3546834"/>
            <a:ext cx="8415403" cy="6016530"/>
          </a:xfrm>
          <a:custGeom>
            <a:avLst/>
            <a:gdLst/>
            <a:ahLst/>
            <a:cxnLst/>
            <a:rect r="r" b="b" t="t" l="l"/>
            <a:pathLst>
              <a:path h="6016530" w="8415403">
                <a:moveTo>
                  <a:pt x="0" y="0"/>
                </a:moveTo>
                <a:lnTo>
                  <a:pt x="8415403" y="0"/>
                </a:lnTo>
                <a:lnTo>
                  <a:pt x="8415403" y="6016530"/>
                </a:lnTo>
                <a:lnTo>
                  <a:pt x="0" y="601653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699489" y="4280525"/>
            <a:ext cx="6022107" cy="426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Histogram or KDE of residuals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Should look roughly normal, centered at 0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8DDDE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 Skewed distribution → model has a bias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2006980" y="2516219"/>
            <a:ext cx="8229600" cy="1251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06. Residual Distribution Plot</a:t>
            </a:r>
          </a:p>
          <a:p>
            <a:pPr algn="l">
              <a:lnSpc>
                <a:spcPts val="5040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672570" y="4404621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302846" y="5489137"/>
            <a:ext cx="3682307" cy="22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07. Bias–Variance Tradeoff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925341" y="2998583"/>
            <a:ext cx="10879455" cy="49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b="true" sz="2899">
                <a:solidFill>
                  <a:srgbClr val="FFC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Numbers lie. Plots don't. Always visualize before concluding.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7661594" cy="891769"/>
            <a:chOff x="0" y="0"/>
            <a:chExt cx="201786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7868" cy="234869"/>
            </a:xfrm>
            <a:custGeom>
              <a:avLst/>
              <a:gdLst/>
              <a:ahLst/>
              <a:cxnLst/>
              <a:rect r="r" b="b" t="t" l="l"/>
              <a:pathLst>
                <a:path h="234869" w="2017868">
                  <a:moveTo>
                    <a:pt x="0" y="0"/>
                  </a:moveTo>
                  <a:lnTo>
                    <a:pt x="2017868" y="0"/>
                  </a:lnTo>
                  <a:lnTo>
                    <a:pt x="201786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1786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9619089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726578" y="4285970"/>
            <a:ext cx="14805893" cy="4372956"/>
          </a:xfrm>
          <a:custGeom>
            <a:avLst/>
            <a:gdLst/>
            <a:ahLst/>
            <a:cxnLst/>
            <a:rect r="r" b="b" t="t" l="l"/>
            <a:pathLst>
              <a:path h="4372956" w="14805893">
                <a:moveTo>
                  <a:pt x="0" y="0"/>
                </a:moveTo>
                <a:lnTo>
                  <a:pt x="14805893" y="0"/>
                </a:lnTo>
                <a:lnTo>
                  <a:pt x="14805893" y="4372956"/>
                </a:lnTo>
                <a:lnTo>
                  <a:pt x="0" y="43729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90432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06980" y="2516219"/>
            <a:ext cx="74066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Bias-Variance Trade-off</a:t>
            </a:r>
          </a:p>
        </p:txBody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7661594" cy="891769"/>
            <a:chOff x="0" y="0"/>
            <a:chExt cx="201786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17868" cy="234869"/>
            </a:xfrm>
            <a:custGeom>
              <a:avLst/>
              <a:gdLst/>
              <a:ahLst/>
              <a:cxnLst/>
              <a:rect r="r" b="b" t="t" l="l"/>
              <a:pathLst>
                <a:path h="234869" w="2017868">
                  <a:moveTo>
                    <a:pt x="0" y="0"/>
                  </a:moveTo>
                  <a:lnTo>
                    <a:pt x="2017868" y="0"/>
                  </a:lnTo>
                  <a:lnTo>
                    <a:pt x="201786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01786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V="true">
            <a:off x="9619089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1900345" y="3666845"/>
          <a:ext cx="13701072" cy="5791743"/>
        </p:xfrm>
        <a:graphic>
          <a:graphicData uri="http://schemas.openxmlformats.org/drawingml/2006/table">
            <a:tbl>
              <a:tblPr/>
              <a:tblGrid>
                <a:gridCol w="6963568"/>
                <a:gridCol w="6737504"/>
              </a:tblGrid>
              <a:tr h="10259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Bias =&gt; Underfitting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Variance =&gt; Overfitting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90230"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The model is </a:t>
                      </a:r>
                      <a:r>
                        <a:rPr lang="en-US" b="true" sz="2100">
                          <a:solidFill>
                            <a:srgbClr val="8DDDE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 simple</a:t>
                      </a:r>
                      <a:endParaRPr lang="en-US" sz="1100"/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b="true" sz="2100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igh bias → </a:t>
                      </a:r>
                      <a:r>
                        <a:rPr lang="en-US" b="true" sz="2100">
                          <a:solidFill>
                            <a:srgbClr val="E52C2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underfitting: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misses the real pattern even on training data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The model is </a:t>
                      </a:r>
                      <a:r>
                        <a:rPr lang="en-US" b="true" sz="2100">
                          <a:solidFill>
                            <a:srgbClr val="8DDDE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too complex</a:t>
                      </a:r>
                      <a:endParaRPr lang="en-US" sz="1100"/>
                    </a:p>
                    <a:p>
                      <a:pPr algn="l" marL="453390" indent="-226695" lvl="1">
                        <a:lnSpc>
                          <a:spcPts val="2940"/>
                        </a:lnSpc>
                        <a:buFont typeface="Arial"/>
                        <a:buChar char="•"/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 variance → </a:t>
                      </a:r>
                      <a:r>
                        <a:rPr lang="en-US" b="true" sz="2100">
                          <a:solidFill>
                            <a:srgbClr val="E52C21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overfitting</a:t>
                      </a: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: memorizes noise, fails on new data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7558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Bad Performance on Both Train &amp; Test (or Val) Sets</a:t>
                      </a:r>
                      <a:endParaRPr lang="en-US" sz="1100"/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Training error ≈ Test error (both high) → Underfitting → </a:t>
                      </a:r>
                      <a:r>
                        <a:rPr lang="en-US" sz="2100" b="true">
                          <a:solidFill>
                            <a:srgbClr val="6AC66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add complexity</a:t>
                      </a:r>
                    </a:p>
                    <a:p>
                      <a:pPr algn="ctr">
                        <a:lnSpc>
                          <a:spcPts val="29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Good Performance on Train X Bad Performance on Val/Test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Training error low, Test error high → Overfitting → </a:t>
                      </a:r>
                      <a:r>
                        <a:rPr lang="en-US" sz="2100" b="true">
                          <a:solidFill>
                            <a:srgbClr val="6AC66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simplify or regularize / add data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2006980" y="2516219"/>
            <a:ext cx="740664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07. Bias-Variance Trade-off</a:t>
            </a:r>
          </a:p>
        </p:txBody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7057637" y="5555812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569405" y="3682465"/>
            <a:ext cx="4610026" cy="3746694"/>
          </a:xfrm>
          <a:custGeom>
            <a:avLst/>
            <a:gdLst/>
            <a:ahLst/>
            <a:cxnLst/>
            <a:rect r="r" b="b" t="t" l="l"/>
            <a:pathLst>
              <a:path h="3746694" w="4610026">
                <a:moveTo>
                  <a:pt x="0" y="0"/>
                </a:moveTo>
                <a:lnTo>
                  <a:pt x="4610026" y="0"/>
                </a:lnTo>
                <a:lnTo>
                  <a:pt x="4610026" y="3746694"/>
                </a:lnTo>
                <a:lnTo>
                  <a:pt x="0" y="37466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033264" y="5067040"/>
            <a:ext cx="3977065" cy="228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291">
                <a:solidFill>
                  <a:srgbClr val="272D3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08. Regularization: Ridge &amp; Lasso</a:t>
            </a:r>
          </a:p>
          <a:p>
            <a:pPr algn="l">
              <a:lnSpc>
                <a:spcPts val="4608"/>
              </a:lnSpc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5828308" cy="891769"/>
            <a:chOff x="0" y="0"/>
            <a:chExt cx="153502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028" cy="234869"/>
            </a:xfrm>
            <a:custGeom>
              <a:avLst/>
              <a:gdLst/>
              <a:ahLst/>
              <a:cxnLst/>
              <a:rect r="r" b="b" t="t" l="l"/>
              <a:pathLst>
                <a:path h="234869" w="1535028">
                  <a:moveTo>
                    <a:pt x="0" y="0"/>
                  </a:moveTo>
                  <a:lnTo>
                    <a:pt x="1535028" y="0"/>
                  </a:lnTo>
                  <a:lnTo>
                    <a:pt x="153502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502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772865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06980" y="2516219"/>
            <a:ext cx="493776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Regularization</a:t>
            </a:r>
          </a:p>
        </p:txBody>
      </p:sp>
      <p:sp>
        <p:nvSpPr>
          <p:cNvPr name="TextBox 24" id="24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61086" y="4076420"/>
            <a:ext cx="13965829" cy="283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E52C21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Problem:</a:t>
            </a: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When a linear regression model overfits, its coefficients grow very large.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6AC66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Solution:</a:t>
            </a: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Add a </a:t>
            </a:r>
            <a:r>
              <a:rPr lang="en-US" sz="2699" u="sng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penalty term</a:t>
            </a:r>
            <a:r>
              <a:rPr lang="en-US" sz="2699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to the loss function that discourages large coefficients.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5828308" cy="891769"/>
            <a:chOff x="0" y="0"/>
            <a:chExt cx="1535028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35028" cy="234869"/>
            </a:xfrm>
            <a:custGeom>
              <a:avLst/>
              <a:gdLst/>
              <a:ahLst/>
              <a:cxnLst/>
              <a:rect r="r" b="b" t="t" l="l"/>
              <a:pathLst>
                <a:path h="234869" w="1535028">
                  <a:moveTo>
                    <a:pt x="0" y="0"/>
                  </a:moveTo>
                  <a:lnTo>
                    <a:pt x="1535028" y="0"/>
                  </a:lnTo>
                  <a:lnTo>
                    <a:pt x="1535028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35028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7728653" y="2060974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06980" y="2516219"/>
            <a:ext cx="384048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Ridge (L2)</a:t>
            </a:r>
          </a:p>
        </p:txBody>
      </p:sp>
      <p:sp>
        <p:nvSpPr>
          <p:cNvPr name="TextBox 24" id="24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61086" y="4076420"/>
            <a:ext cx="13965829" cy="478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Loss = MSE + λ · Σ βᵢ²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Penalizes the square of each coefficient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Shrinks all coefficients toward zero, but </a:t>
            </a:r>
            <a:r>
              <a:rPr lang="en-US" sz="2699" u="sng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never exactly to zero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Great when many features contribute a little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Controlled by λ (lambda): </a:t>
            </a:r>
            <a:r>
              <a:rPr lang="en-US" sz="2699" b="true">
                <a:solidFill>
                  <a:srgbClr val="8DDDEB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larger λ → stronger shrinkage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900345" y="2418025"/>
            <a:ext cx="7243655" cy="891769"/>
            <a:chOff x="0" y="0"/>
            <a:chExt cx="1907794" cy="2348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07794" cy="234869"/>
            </a:xfrm>
            <a:custGeom>
              <a:avLst/>
              <a:gdLst/>
              <a:ahLst/>
              <a:cxnLst/>
              <a:rect r="r" b="b" t="t" l="l"/>
              <a:pathLst>
                <a:path h="234869" w="1907794">
                  <a:moveTo>
                    <a:pt x="0" y="0"/>
                  </a:moveTo>
                  <a:lnTo>
                    <a:pt x="1907794" y="0"/>
                  </a:lnTo>
                  <a:lnTo>
                    <a:pt x="1907794" y="234869"/>
                  </a:lnTo>
                  <a:lnTo>
                    <a:pt x="0" y="234869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07794" cy="2729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 flipV="true">
            <a:off x="9086850" y="1959898"/>
            <a:ext cx="0" cy="1605871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06980" y="2516219"/>
            <a:ext cx="68580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08. Lasso Regression (L1)</a:t>
            </a:r>
          </a:p>
        </p:txBody>
      </p:sp>
      <p:sp>
        <p:nvSpPr>
          <p:cNvPr name="TextBox 24" id="24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161086" y="4076420"/>
            <a:ext cx="13965829" cy="478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FFCF6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Loss = MSE + λ · Σ |βᵢ|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Penalizes the absolute value of each coefficient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Can shrink coefficients all the way to zero → built-i</a:t>
            </a:r>
            <a:r>
              <a:rPr lang="en-US" sz="2699" u="none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n </a:t>
            </a:r>
            <a:r>
              <a:rPr lang="en-US" sz="2699" u="sng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feature selection</a:t>
            </a:r>
          </a:p>
          <a:p>
            <a:pPr algn="l">
              <a:lnSpc>
                <a:spcPts val="3779"/>
              </a:lnSpc>
            </a:pPr>
            <a:r>
              <a:rPr lang="en-US" sz="26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- Great when only a few features actually matter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7428037" y="3752722"/>
            <a:ext cx="3431927" cy="3431927"/>
          </a:xfrm>
          <a:custGeom>
            <a:avLst/>
            <a:gdLst/>
            <a:ahLst/>
            <a:cxnLst/>
            <a:rect r="r" b="b" t="t" l="l"/>
            <a:pathLst>
              <a:path h="3431927" w="3431927">
                <a:moveTo>
                  <a:pt x="0" y="0"/>
                </a:moveTo>
                <a:lnTo>
                  <a:pt x="3431926" y="0"/>
                </a:lnTo>
                <a:lnTo>
                  <a:pt x="3431926" y="3431927"/>
                </a:lnTo>
                <a:lnTo>
                  <a:pt x="0" y="34319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486648" y="4727612"/>
            <a:ext cx="7314704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</a:pPr>
            <a:r>
              <a:rPr lang="en-US" sz="6399" b="true">
                <a:solidFill>
                  <a:srgbClr val="E7E5E5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Any Questions 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6236367" y="8540431"/>
            <a:ext cx="2045866" cy="2045866"/>
          </a:xfrm>
          <a:custGeom>
            <a:avLst/>
            <a:gdLst/>
            <a:ahLst/>
            <a:cxnLst/>
            <a:rect r="r" b="b" t="t" l="l"/>
            <a:pathLst>
              <a:path h="2045866" w="2045866">
                <a:moveTo>
                  <a:pt x="0" y="0"/>
                </a:moveTo>
                <a:lnTo>
                  <a:pt x="2045866" y="0"/>
                </a:lnTo>
                <a:lnTo>
                  <a:pt x="2045866" y="2045866"/>
                </a:lnTo>
                <a:lnTo>
                  <a:pt x="0" y="2045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60312" y="-201041"/>
            <a:ext cx="19208624" cy="10689082"/>
            <a:chOff x="0" y="0"/>
            <a:chExt cx="25611499" cy="14252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1359389" y="0"/>
              <a:ext cx="14252110" cy="14252110"/>
            </a:xfrm>
            <a:custGeom>
              <a:avLst/>
              <a:gdLst/>
              <a:ahLst/>
              <a:cxnLst/>
              <a:rect r="r" b="b" t="t" l="l"/>
              <a:pathLst>
                <a:path h="14252110" w="14252110">
                  <a:moveTo>
                    <a:pt x="0" y="0"/>
                  </a:moveTo>
                  <a:lnTo>
                    <a:pt x="14252110" y="0"/>
                  </a:lnTo>
                  <a:lnTo>
                    <a:pt x="14252110" y="14252110"/>
                  </a:lnTo>
                  <a:lnTo>
                    <a:pt x="0" y="14252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2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78936" y="-2349335"/>
            <a:ext cx="9864459" cy="9864459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16230600" cy="8616389"/>
            <a:chOff x="0" y="0"/>
            <a:chExt cx="4274726" cy="226933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269337"/>
            </a:xfrm>
            <a:custGeom>
              <a:avLst/>
              <a:gdLst/>
              <a:ahLst/>
              <a:cxnLst/>
              <a:rect r="r" b="b" t="t" l="l"/>
              <a:pathLst>
                <a:path h="226933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245010"/>
                  </a:lnTo>
                  <a:cubicBezTo>
                    <a:pt x="4274726" y="2258446"/>
                    <a:pt x="4263834" y="2269337"/>
                    <a:pt x="4250399" y="2269337"/>
                  </a:cubicBezTo>
                  <a:lnTo>
                    <a:pt x="24327" y="2269337"/>
                  </a:lnTo>
                  <a:cubicBezTo>
                    <a:pt x="10891" y="2269337"/>
                    <a:pt x="0" y="2258446"/>
                    <a:pt x="0" y="224501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72D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274726" cy="23074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2811" y="1612267"/>
            <a:ext cx="347534" cy="347534"/>
            <a:chOff x="0" y="0"/>
            <a:chExt cx="6350000" cy="63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DE0F3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006980" y="1612267"/>
            <a:ext cx="347534" cy="347534"/>
            <a:chOff x="0" y="0"/>
            <a:chExt cx="6350000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CF6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459288" y="1612267"/>
            <a:ext cx="347534" cy="347534"/>
            <a:chOff x="0" y="0"/>
            <a:chExt cx="6350000" cy="6350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6AC66B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006980" y="4098221"/>
            <a:ext cx="14812572" cy="250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EFEF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Thank you for your attention ✨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900345" y="4231571"/>
            <a:ext cx="5056654" cy="1184910"/>
            <a:chOff x="0" y="0"/>
            <a:chExt cx="1331794" cy="3120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1794" cy="312075"/>
            </a:xfrm>
            <a:custGeom>
              <a:avLst/>
              <a:gdLst/>
              <a:ahLst/>
              <a:cxnLst/>
              <a:rect r="r" b="b" t="t" l="l"/>
              <a:pathLst>
                <a:path h="312075" w="1331794">
                  <a:moveTo>
                    <a:pt x="0" y="0"/>
                  </a:moveTo>
                  <a:lnTo>
                    <a:pt x="1331794" y="0"/>
                  </a:lnTo>
                  <a:lnTo>
                    <a:pt x="1331794" y="312075"/>
                  </a:lnTo>
                  <a:lnTo>
                    <a:pt x="0" y="312075"/>
                  </a:lnTo>
                  <a:close/>
                </a:path>
              </a:pathLst>
            </a:custGeom>
            <a:solidFill>
              <a:srgbClr val="E7E5E5">
                <a:alpha val="3098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1794" cy="350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 flipH="true" flipV="true">
            <a:off x="7014149" y="3853727"/>
            <a:ext cx="0" cy="1940596"/>
          </a:xfrm>
          <a:prstGeom prst="line">
            <a:avLst/>
          </a:prstGeom>
          <a:ln cap="flat" w="114300">
            <a:solidFill>
              <a:srgbClr val="E7E5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7053929" y="-124893"/>
            <a:ext cx="1978673" cy="4169388"/>
            <a:chOff x="0" y="0"/>
            <a:chExt cx="521132" cy="10981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21132" cy="1098110"/>
            </a:xfrm>
            <a:custGeom>
              <a:avLst/>
              <a:gdLst/>
              <a:ahLst/>
              <a:cxnLst/>
              <a:rect r="r" b="b" t="t" l="l"/>
              <a:pathLst>
                <a:path h="1098110" w="521132">
                  <a:moveTo>
                    <a:pt x="121293" y="0"/>
                  </a:moveTo>
                  <a:lnTo>
                    <a:pt x="399839" y="0"/>
                  </a:lnTo>
                  <a:cubicBezTo>
                    <a:pt x="432008" y="0"/>
                    <a:pt x="462859" y="12779"/>
                    <a:pt x="485606" y="35526"/>
                  </a:cubicBezTo>
                  <a:cubicBezTo>
                    <a:pt x="508353" y="58273"/>
                    <a:pt x="521132" y="89124"/>
                    <a:pt x="521132" y="121293"/>
                  </a:cubicBezTo>
                  <a:lnTo>
                    <a:pt x="521132" y="976817"/>
                  </a:lnTo>
                  <a:cubicBezTo>
                    <a:pt x="521132" y="1008986"/>
                    <a:pt x="508353" y="1039837"/>
                    <a:pt x="485606" y="1062584"/>
                  </a:cubicBezTo>
                  <a:cubicBezTo>
                    <a:pt x="462859" y="1085331"/>
                    <a:pt x="432008" y="1098110"/>
                    <a:pt x="399839" y="1098110"/>
                  </a:cubicBezTo>
                  <a:lnTo>
                    <a:pt x="121293" y="1098110"/>
                  </a:lnTo>
                  <a:cubicBezTo>
                    <a:pt x="54305" y="1098110"/>
                    <a:pt x="0" y="1043805"/>
                    <a:pt x="0" y="976817"/>
                  </a:cubicBezTo>
                  <a:lnTo>
                    <a:pt x="0" y="121293"/>
                  </a:lnTo>
                  <a:cubicBezTo>
                    <a:pt x="0" y="89124"/>
                    <a:pt x="12779" y="58273"/>
                    <a:pt x="35526" y="35526"/>
                  </a:cubicBezTo>
                  <a:cubicBezTo>
                    <a:pt x="58273" y="12779"/>
                    <a:pt x="89124" y="0"/>
                    <a:pt x="121293" y="0"/>
                  </a:cubicBezTo>
                  <a:close/>
                </a:path>
              </a:pathLst>
            </a:custGeom>
            <a:solidFill>
              <a:srgbClr val="2B3640"/>
            </a:solidFill>
            <a:ln w="38100" cap="rnd">
              <a:solidFill>
                <a:srgbClr val="FFCF60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521132" cy="1136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-5400000">
            <a:off x="17353024" y="2806183"/>
            <a:ext cx="733590" cy="646893"/>
          </a:xfrm>
          <a:custGeom>
            <a:avLst/>
            <a:gdLst/>
            <a:ahLst/>
            <a:cxnLst/>
            <a:rect r="r" b="b" t="t" l="l"/>
            <a:pathLst>
              <a:path h="646893" w="733590">
                <a:moveTo>
                  <a:pt x="0" y="0"/>
                </a:moveTo>
                <a:lnTo>
                  <a:pt x="733590" y="0"/>
                </a:lnTo>
                <a:lnTo>
                  <a:pt x="733590" y="646892"/>
                </a:lnTo>
                <a:lnTo>
                  <a:pt x="0" y="6468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-5400000">
            <a:off x="16622398" y="1429386"/>
            <a:ext cx="200482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Kaushan Script"/>
                <a:ea typeface="Kaushan Script"/>
                <a:cs typeface="Kaushan Script"/>
                <a:sym typeface="Kaushan Script"/>
              </a:rPr>
              <a:t>Open Minds Club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7844839" y="8147301"/>
            <a:ext cx="2598322" cy="2598322"/>
          </a:xfrm>
          <a:custGeom>
            <a:avLst/>
            <a:gdLst/>
            <a:ahLst/>
            <a:cxnLst/>
            <a:rect r="r" b="b" t="t" l="l"/>
            <a:pathLst>
              <a:path h="2598322" w="2598322">
                <a:moveTo>
                  <a:pt x="0" y="0"/>
                </a:moveTo>
                <a:lnTo>
                  <a:pt x="2598322" y="0"/>
                </a:lnTo>
                <a:lnTo>
                  <a:pt x="2598322" y="2598322"/>
                </a:lnTo>
                <a:lnTo>
                  <a:pt x="0" y="25983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DAHGRh8H9zs</dc:identifier>
  <dcterms:modified xsi:type="dcterms:W3CDTF">2011-08-01T06:04:30Z</dcterms:modified>
  <cp:revision>1</cp:revision>
  <dc:title>Iteration 2.2</dc:title>
</cp:coreProperties>
</file>