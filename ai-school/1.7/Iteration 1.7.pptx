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JetBrains Mono" charset="1" panose="02010509020102050004"/>
      <p:regular r:id="rId36"/>
    </p:embeddedFont>
    <p:embeddedFont>
      <p:font typeface="Kaushan Script" charset="1" panose="03060602040705080205"/>
      <p:regular r:id="rId37"/>
    </p:embeddedFont>
    <p:embeddedFont>
      <p:font typeface="JetBrains Mono Bold" charset="1" panose="02010809030102050004"/>
      <p:regular r:id="rId38"/>
    </p:embeddedFont>
    <p:embeddedFont>
      <p:font typeface="Canva Sans Bold" charset="1" panose="020B0803030501040103"/>
      <p:regular r:id="rId39"/>
    </p:embeddedFont>
    <p:embeddedFont>
      <p:font typeface="Canva Sans" charset="1" panose="020B0503030501040103"/>
      <p:regular r:id="rId40"/>
    </p:embeddedFont>
    <p:embeddedFont>
      <p:font typeface="JetBrains Mono Italics" charset="1" panose="020105090201020500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www.datacamp.com/tutorial/seaborn-python-tutorial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10257" y="6531115"/>
            <a:ext cx="213757" cy="21375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0678" y="5629912"/>
            <a:ext cx="6240712" cy="3043916"/>
            <a:chOff x="0" y="0"/>
            <a:chExt cx="3173713" cy="1547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713" cy="1547983"/>
            </a:xfrm>
            <a:custGeom>
              <a:avLst/>
              <a:gdLst/>
              <a:ahLst/>
              <a:cxnLst/>
              <a:rect r="r" b="b" t="t" l="l"/>
              <a:pathLst>
                <a:path h="1547983" w="3173713">
                  <a:moveTo>
                    <a:pt x="21089" y="0"/>
                  </a:moveTo>
                  <a:lnTo>
                    <a:pt x="3152623" y="0"/>
                  </a:lnTo>
                  <a:cubicBezTo>
                    <a:pt x="3158217" y="0"/>
                    <a:pt x="3163581" y="2222"/>
                    <a:pt x="3167536" y="6177"/>
                  </a:cubicBezTo>
                  <a:cubicBezTo>
                    <a:pt x="3171491" y="10132"/>
                    <a:pt x="3173713" y="15496"/>
                    <a:pt x="3173713" y="21089"/>
                  </a:cubicBezTo>
                  <a:lnTo>
                    <a:pt x="3173713" y="1526894"/>
                  </a:lnTo>
                  <a:cubicBezTo>
                    <a:pt x="3173713" y="1532487"/>
                    <a:pt x="3171491" y="1537851"/>
                    <a:pt x="3167536" y="1541806"/>
                  </a:cubicBezTo>
                  <a:cubicBezTo>
                    <a:pt x="3163581" y="1545761"/>
                    <a:pt x="3158217" y="1547983"/>
                    <a:pt x="3152623" y="1547983"/>
                  </a:cubicBezTo>
                  <a:lnTo>
                    <a:pt x="21089" y="1547983"/>
                  </a:lnTo>
                  <a:cubicBezTo>
                    <a:pt x="15496" y="1547983"/>
                    <a:pt x="10132" y="1545761"/>
                    <a:pt x="6177" y="1541806"/>
                  </a:cubicBezTo>
                  <a:cubicBezTo>
                    <a:pt x="2222" y="1537851"/>
                    <a:pt x="0" y="1532487"/>
                    <a:pt x="0" y="1526894"/>
                  </a:cubicBezTo>
                  <a:lnTo>
                    <a:pt x="0" y="21089"/>
                  </a:lnTo>
                  <a:cubicBezTo>
                    <a:pt x="0" y="15496"/>
                    <a:pt x="2222" y="10132"/>
                    <a:pt x="6177" y="6177"/>
                  </a:cubicBezTo>
                  <a:cubicBezTo>
                    <a:pt x="10132" y="2222"/>
                    <a:pt x="15496" y="0"/>
                    <a:pt x="21089" y="0"/>
                  </a:cubicBezTo>
                  <a:close/>
                </a:path>
              </a:pathLst>
            </a:custGeom>
            <a:solidFill>
              <a:srgbClr val="2024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73713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58731" y="3867150"/>
            <a:ext cx="12320897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Further Preprocessing &amp; ML Pipeline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9885853" y="5090899"/>
            <a:ext cx="0" cy="165397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65365" y="2918674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School Iteration 1.7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11916" y="6776585"/>
            <a:ext cx="554361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By BOULGHERAIF Fatma Zohra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1916" y="6795635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&lt;h4&gt;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24014" y="7396980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&lt;/h4&gt;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01.Data Viz Review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93268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Iteration 1.6 Review: Data Viz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648199"/>
            <a:ext cx="1377934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</a:t>
            </a:r>
            <a:r>
              <a:rPr lang="en-US" b="true" sz="2999" u="sng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  <a:hlinkClick r:id="rId4" tooltip="https://www.datacamp.com/tutorial/seaborn-python-tutorial"/>
              </a:rPr>
              <a:t>https://www.datacamp.com/tutorial/seaborn-python-tutorial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02. Feature Scaling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6858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Feature Scaling: Why?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996869"/>
            <a:ext cx="13965829" cy="585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</a:t>
            </a: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ML algorithms that use distances or gradients are sensitive to the 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magnitude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of features.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age: 25, 30, 45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salary: 30,000 · 80,000 · 120,000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Salary </a:t>
            </a: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dominates the model.</a:t>
            </a: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Not because it matters more, but because it's bigger.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NB: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Affected: KNN · SVM · Linear/Logistic Regression · Neural Networks · PCA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affected: Decision Trees · Random Forests (split-based, not distance-based)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2698562" cy="891769"/>
            <a:chOff x="0" y="0"/>
            <a:chExt cx="334447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4477" cy="234869"/>
            </a:xfrm>
            <a:custGeom>
              <a:avLst/>
              <a:gdLst/>
              <a:ahLst/>
              <a:cxnLst/>
              <a:rect r="r" b="b" t="t" l="l"/>
              <a:pathLst>
                <a:path h="234869" w="3344477">
                  <a:moveTo>
                    <a:pt x="0" y="0"/>
                  </a:moveTo>
                  <a:lnTo>
                    <a:pt x="3344477" y="0"/>
                  </a:lnTo>
                  <a:lnTo>
                    <a:pt x="334447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447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12344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Scaling: Absolute Maximum / Divide by Max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4598907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006980" y="3795776"/>
            <a:ext cx="13965829" cy="585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Formula: X' = X / X_max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Values scaled to range [0, 1], but only if data has no negatives.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Limitation: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Sensitive to outliers.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When to use: Quick normalization when you know the data is positive and clean.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2006980" y="5679821"/>
          <a:ext cx="7101770" cy="1714500"/>
        </p:xfrm>
        <a:graphic>
          <a:graphicData uri="http://schemas.openxmlformats.org/drawingml/2006/table">
            <a:tbl>
              <a:tblPr/>
              <a:tblGrid>
                <a:gridCol w="1775443"/>
                <a:gridCol w="1775443"/>
                <a:gridCol w="1775443"/>
                <a:gridCol w="1775443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Original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Scaled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185533" cy="891769"/>
            <a:chOff x="0" y="0"/>
            <a:chExt cx="215586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5860" cy="234869"/>
            </a:xfrm>
            <a:custGeom>
              <a:avLst/>
              <a:gdLst/>
              <a:ahLst/>
              <a:cxnLst/>
              <a:rect r="r" b="b" t="t" l="l"/>
              <a:pathLst>
                <a:path h="234869" w="2155860">
                  <a:moveTo>
                    <a:pt x="0" y="0"/>
                  </a:moveTo>
                  <a:lnTo>
                    <a:pt x="2155860" y="0"/>
                  </a:lnTo>
                  <a:lnTo>
                    <a:pt x="215586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5586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76809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Scaling: Min-Max Scaling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0085878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006980" y="3795776"/>
            <a:ext cx="13965829" cy="543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Formula: X' = (X − X_min) / (X_max − X_min)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Result: Values always in range [0, 1]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Limitation: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Sensitive to outliers.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When to use: When you know the bounds of a feature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2006980" y="5679821"/>
          <a:ext cx="7101770" cy="1714500"/>
        </p:xfrm>
        <a:graphic>
          <a:graphicData uri="http://schemas.openxmlformats.org/drawingml/2006/table">
            <a:tbl>
              <a:tblPr/>
              <a:tblGrid>
                <a:gridCol w="1775443"/>
                <a:gridCol w="1775443"/>
                <a:gridCol w="1775443"/>
                <a:gridCol w="1775443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Original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Scaled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4899589" cy="891769"/>
            <a:chOff x="0" y="0"/>
            <a:chExt cx="3924172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24172" cy="234869"/>
            </a:xfrm>
            <a:custGeom>
              <a:avLst/>
              <a:gdLst/>
              <a:ahLst/>
              <a:cxnLst/>
              <a:rect r="r" b="b" t="t" l="l"/>
              <a:pathLst>
                <a:path h="234869" w="3924172">
                  <a:moveTo>
                    <a:pt x="0" y="0"/>
                  </a:moveTo>
                  <a:lnTo>
                    <a:pt x="3924172" y="0"/>
                  </a:lnTo>
                  <a:lnTo>
                    <a:pt x="3924172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924172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145389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Scaling: Standard Scaling / Z-score Normalization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16799934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006980" y="3795776"/>
            <a:ext cx="13965829" cy="501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Formula: X' = (X − μ) / σ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Result: Mean = 0, Std Dev = 1. No fixed range.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Works well when data is roughly Gaussian. Robust for most ML algorithms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2006980" y="5679821"/>
          <a:ext cx="7101770" cy="1714500"/>
        </p:xfrm>
        <a:graphic>
          <a:graphicData uri="http://schemas.openxmlformats.org/drawingml/2006/table">
            <a:tbl>
              <a:tblPr/>
              <a:tblGrid>
                <a:gridCol w="1775443"/>
                <a:gridCol w="1775443"/>
                <a:gridCol w="1775443"/>
                <a:gridCol w="1775443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Original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1.22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Scaled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-1.22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576979" cy="891769"/>
            <a:chOff x="0" y="0"/>
            <a:chExt cx="199558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5583" cy="234869"/>
            </a:xfrm>
            <a:custGeom>
              <a:avLst/>
              <a:gdLst/>
              <a:ahLst/>
              <a:cxnLst/>
              <a:rect r="r" b="b" t="t" l="l"/>
              <a:pathLst>
                <a:path h="234869" w="1995583">
                  <a:moveTo>
                    <a:pt x="0" y="0"/>
                  </a:moveTo>
                  <a:lnTo>
                    <a:pt x="1995583" y="0"/>
                  </a:lnTo>
                  <a:lnTo>
                    <a:pt x="199558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9558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71323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Scaling: Robust Scaler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9477324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006980" y="3795776"/>
            <a:ext cx="13965829" cy="585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Formula: (X − median) / IQR, aka (X - Q2) / (Q3 - Q1)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Result: Centered on median, scaled by interquartile range. 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Outliers have minimal effect.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It</a:t>
            </a: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maintains the structure of data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2006980" y="6146490"/>
          <a:ext cx="13517350" cy="2552700"/>
        </p:xfrm>
        <a:graphic>
          <a:graphicData uri="http://schemas.openxmlformats.org/drawingml/2006/table">
            <a:tbl>
              <a:tblPr/>
              <a:tblGrid>
                <a:gridCol w="3379338"/>
                <a:gridCol w="3379338"/>
                <a:gridCol w="3379338"/>
                <a:gridCol w="3379338"/>
              </a:tblGrid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E52C2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Original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+0.23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Standard Scaler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−0.57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+7.22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Robust Scaler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−0.67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70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03. Encoding Categorical Features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1369842" cy="891769"/>
            <a:chOff x="0" y="0"/>
            <a:chExt cx="2994526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94526" cy="234869"/>
            </a:xfrm>
            <a:custGeom>
              <a:avLst/>
              <a:gdLst/>
              <a:ahLst/>
              <a:cxnLst/>
              <a:rect r="r" b="b" t="t" l="l"/>
              <a:pathLst>
                <a:path h="234869" w="2994526">
                  <a:moveTo>
                    <a:pt x="0" y="0"/>
                  </a:moveTo>
                  <a:lnTo>
                    <a:pt x="2994526" y="0"/>
                  </a:lnTo>
                  <a:lnTo>
                    <a:pt x="299452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99452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3270186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312218" y="4318635"/>
            <a:ext cx="1266059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Machine learning algorithms </a:t>
            </a: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work with numbers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they cannot process raw text labels.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93819" y="6073020"/>
            <a:ext cx="260651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📌 Rule of thumb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2187566" y="6429255"/>
            <a:ext cx="0" cy="1362345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5400000">
            <a:off x="2116822" y="4256417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1" y="0"/>
                </a:lnTo>
                <a:lnTo>
                  <a:pt x="746931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06980" y="2516219"/>
            <a:ext cx="10972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Encoding Categorical Variables: Why?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13642" y="6694298"/>
            <a:ext cx="749427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 categories → Binary Encoding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categories, no order → One-Hot Encoding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Ordered categories → Ordinal Encoding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5624186" cy="891769"/>
            <a:chOff x="0" y="0"/>
            <a:chExt cx="148126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1267" cy="234869"/>
            </a:xfrm>
            <a:custGeom>
              <a:avLst/>
              <a:gdLst/>
              <a:ahLst/>
              <a:cxnLst/>
              <a:rect r="r" b="b" t="t" l="l"/>
              <a:pathLst>
                <a:path h="234869" w="1481267">
                  <a:moveTo>
                    <a:pt x="0" y="0"/>
                  </a:moveTo>
                  <a:lnTo>
                    <a:pt x="1481267" y="0"/>
                  </a:lnTo>
                  <a:lnTo>
                    <a:pt x="148126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8126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7581681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312218" y="4318635"/>
            <a:ext cx="1266059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When to use: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Binary categorical va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(only 2 possible values)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5400000">
            <a:off x="2116822" y="4062022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1" y="0"/>
                </a:lnTo>
                <a:lnTo>
                  <a:pt x="746931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06980" y="2516219"/>
            <a:ext cx="52120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Binary Encoding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006980" y="5566495"/>
            <a:ext cx="12660590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 Gender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Male: 0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Female: 1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df['gender'] = (df['gender'] == 'Female').astype(int)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093117" cy="891769"/>
            <a:chOff x="0" y="0"/>
            <a:chExt cx="1868146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8146" cy="234869"/>
            </a:xfrm>
            <a:custGeom>
              <a:avLst/>
              <a:gdLst/>
              <a:ahLst/>
              <a:cxnLst/>
              <a:rect r="r" b="b" t="t" l="l"/>
              <a:pathLst>
                <a:path h="234869" w="1868146">
                  <a:moveTo>
                    <a:pt x="0" y="0"/>
                  </a:moveTo>
                  <a:lnTo>
                    <a:pt x="1868146" y="0"/>
                  </a:lnTo>
                  <a:lnTo>
                    <a:pt x="186814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6814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993461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5400000">
            <a:off x="2116822" y="4062022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1" y="0"/>
                </a:lnTo>
                <a:lnTo>
                  <a:pt x="746931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13527" y="1533330"/>
            <a:ext cx="6667440" cy="2366205"/>
          </a:xfrm>
          <a:custGeom>
            <a:avLst/>
            <a:gdLst/>
            <a:ahLst/>
            <a:cxnLst/>
            <a:rect r="r" b="b" t="t" l="l"/>
            <a:pathLst>
              <a:path h="2366205" w="6667440">
                <a:moveTo>
                  <a:pt x="0" y="0"/>
                </a:moveTo>
                <a:lnTo>
                  <a:pt x="6667440" y="0"/>
                </a:lnTo>
                <a:lnTo>
                  <a:pt x="6667440" y="2366205"/>
                </a:lnTo>
                <a:lnTo>
                  <a:pt x="0" y="23662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312218" y="4318635"/>
            <a:ext cx="1266059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When to use: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Nominal categories with no natu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 ord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(e.g. color, city, product type)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980" y="2516219"/>
            <a:ext cx="65836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One-Hot Encoding OHE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06980" y="5566495"/>
            <a:ext cx="12660590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 Color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Red: [1, 0, 0]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Green: [0, 1, 0]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Blue: [0, 0, 1]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Red: [0, 0] . Green: [1, 0] . Blue: [0, 1]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pd.get_dummies(df, columns=['color'], </a:t>
            </a:r>
            <a:r>
              <a:rPr lang="en-US" sz="2400" i="true">
                <a:solidFill>
                  <a:srgbClr val="8DDDEB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drop_first=True</a:t>
            </a: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029163" cy="891769"/>
            <a:chOff x="0" y="0"/>
            <a:chExt cx="1587928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7928" cy="234869"/>
            </a:xfrm>
            <a:custGeom>
              <a:avLst/>
              <a:gdLst/>
              <a:ahLst/>
              <a:cxnLst/>
              <a:rect r="r" b="b" t="t" l="l"/>
              <a:pathLst>
                <a:path h="234869" w="1587928">
                  <a:moveTo>
                    <a:pt x="0" y="0"/>
                  </a:moveTo>
                  <a:lnTo>
                    <a:pt x="1587928" y="0"/>
                  </a:lnTo>
                  <a:lnTo>
                    <a:pt x="158792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8792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7929508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5400000">
            <a:off x="2116822" y="4062022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1" y="0"/>
                </a:lnTo>
                <a:lnTo>
                  <a:pt x="746931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312218" y="4318635"/>
            <a:ext cx="1266059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When to use: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Ordinal categories (whe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ord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matters)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Ordinal Encoding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06980" y="5566495"/>
            <a:ext cx="12660590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 Salary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Low: 0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Medium: 1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High: 2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sklearn.preprocessing.OrdinalEncoder, or simply, pandas df.replace method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04. Missing Values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5381286" cy="891769"/>
            <a:chOff x="0" y="0"/>
            <a:chExt cx="141729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7293" cy="234869"/>
            </a:xfrm>
            <a:custGeom>
              <a:avLst/>
              <a:gdLst/>
              <a:ahLst/>
              <a:cxnLst/>
              <a:rect r="r" b="b" t="t" l="l"/>
              <a:pathLst>
                <a:path h="234869" w="1417293">
                  <a:moveTo>
                    <a:pt x="0" y="0"/>
                  </a:moveTo>
                  <a:lnTo>
                    <a:pt x="1417293" y="0"/>
                  </a:lnTo>
                  <a:lnTo>
                    <a:pt x="141729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1729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49377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Missing Values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7338781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726578" y="4238345"/>
            <a:ext cx="13584896" cy="41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Remove rows: # of missing values &lt; 5%</a:t>
            </a:r>
          </a:p>
          <a:p>
            <a:pPr algn="l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Drop column: # of missing values &gt; 50%</a:t>
            </a:r>
          </a:p>
          <a:p>
            <a:pPr algn="l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Impute by mean/median: Use median when outliers are present; mean for clean distributions.</a:t>
            </a:r>
          </a:p>
          <a:p>
            <a:pPr algn="l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Impute by mode: for categories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05. Outliers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75831" cy="891769"/>
            <a:chOff x="0" y="0"/>
            <a:chExt cx="175824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8244" cy="234869"/>
            </a:xfrm>
            <a:custGeom>
              <a:avLst/>
              <a:gdLst/>
              <a:ahLst/>
              <a:cxnLst/>
              <a:rect r="r" b="b" t="t" l="l"/>
              <a:pathLst>
                <a:path h="234869" w="1758244">
                  <a:moveTo>
                    <a:pt x="0" y="0"/>
                  </a:moveTo>
                  <a:lnTo>
                    <a:pt x="1758244" y="0"/>
                  </a:lnTo>
                  <a:lnTo>
                    <a:pt x="175824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5824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617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Outliers (Reminder)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6578" y="4238345"/>
            <a:ext cx="14509789" cy="36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Definition: </a:t>
            </a: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points that sit far from the rest of the distribution.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Detection methods: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IQR method: Outlier if X &lt; Q1 − 1.5×IQR or X &gt; Q3 + 1.5×IQR 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Z-score: Outlier if |z| &gt; 3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75831" cy="891769"/>
            <a:chOff x="0" y="0"/>
            <a:chExt cx="175824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8244" cy="234869"/>
            </a:xfrm>
            <a:custGeom>
              <a:avLst/>
              <a:gdLst/>
              <a:ahLst/>
              <a:cxnLst/>
              <a:rect r="r" b="b" t="t" l="l"/>
              <a:pathLst>
                <a:path h="234869" w="1758244">
                  <a:moveTo>
                    <a:pt x="0" y="0"/>
                  </a:moveTo>
                  <a:lnTo>
                    <a:pt x="1758244" y="0"/>
                  </a:lnTo>
                  <a:lnTo>
                    <a:pt x="175824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5824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617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900345" y="4640273"/>
          <a:ext cx="10755915" cy="4495800"/>
        </p:xfrm>
        <a:graphic>
          <a:graphicData uri="http://schemas.openxmlformats.org/drawingml/2006/table">
            <a:tbl>
              <a:tblPr/>
              <a:tblGrid>
                <a:gridCol w="3983690"/>
                <a:gridCol w="6772225"/>
              </a:tblGrid>
              <a:tr h="1027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Remove / Impute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Clearly erroneous values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Keep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Algorithm is tree-based (not sensitive)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 Robust Scaler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Keep the value, reduce its influence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Outliers (Reminder)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3611572"/>
            <a:ext cx="343508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How to handle: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06. Feature Engineering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20459" y="-960099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089549" cy="891769"/>
            <a:chOff x="0" y="0"/>
            <a:chExt cx="1867206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7206" cy="234869"/>
            </a:xfrm>
            <a:custGeom>
              <a:avLst/>
              <a:gdLst/>
              <a:ahLst/>
              <a:cxnLst/>
              <a:rect r="r" b="b" t="t" l="l"/>
              <a:pathLst>
                <a:path h="234869" w="1867206">
                  <a:moveTo>
                    <a:pt x="0" y="0"/>
                  </a:moveTo>
                  <a:lnTo>
                    <a:pt x="1867206" y="0"/>
                  </a:lnTo>
                  <a:lnTo>
                    <a:pt x="186720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6720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989894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900345" y="4076420"/>
            <a:ext cx="13965829" cy="474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Creating new features from existing ones using domain knowledge.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Examples: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bmi | weight / height² |  Clinically meaningful 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age_group | bin age into ranges | Captures non-linear patterns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is_weekend | extract from date | Behavior changes weekends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revenue_per_user | revenue / users | Normalizes for scale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=&gt; </a:t>
            </a: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model can only learn from what you give it. A smart feature can matter more than a sophisticated algorithm.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06980" y="2516219"/>
            <a:ext cx="6858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Hand-crafted Features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07. ML Pipeline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5828308" cy="891769"/>
            <a:chOff x="0" y="0"/>
            <a:chExt cx="153502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028" cy="234869"/>
            </a:xfrm>
            <a:custGeom>
              <a:avLst/>
              <a:gdLst/>
              <a:ahLst/>
              <a:cxnLst/>
              <a:rect r="r" b="b" t="t" l="l"/>
              <a:pathLst>
                <a:path h="234869" w="1535028">
                  <a:moveTo>
                    <a:pt x="0" y="0"/>
                  </a:moveTo>
                  <a:lnTo>
                    <a:pt x="1535028" y="0"/>
                  </a:lnTo>
                  <a:lnTo>
                    <a:pt x="153502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502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772865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726578" y="5336895"/>
            <a:ext cx="2441664" cy="1220832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985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63987" y="5336895"/>
            <a:ext cx="2441664" cy="1220832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Clean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68599" y="5336895"/>
            <a:ext cx="2441664" cy="1220832"/>
            <a:chOff x="0" y="0"/>
            <a:chExt cx="812800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Engineer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06980" y="2516219"/>
            <a:ext cx="52120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The ML Pipeline</a:t>
            </a:r>
          </a:p>
        </p:txBody>
      </p:sp>
      <p:sp>
        <p:nvSpPr>
          <p:cNvPr name="TextBox 33" id="33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341107" y="5336895"/>
            <a:ext cx="2441664" cy="1220832"/>
            <a:chOff x="0" y="0"/>
            <a:chExt cx="812800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Split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27061" y="5336895"/>
            <a:ext cx="2441664" cy="1220832"/>
            <a:chOff x="0" y="0"/>
            <a:chExt cx="812800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Scale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492564" y="5336895"/>
            <a:ext cx="2441664" cy="1220832"/>
            <a:chOff x="0" y="0"/>
            <a:chExt cx="812800" cy="406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F6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12265" y="5336895"/>
            <a:ext cx="2441664" cy="1220832"/>
            <a:chOff x="0" y="0"/>
            <a:chExt cx="812800" cy="406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F6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Evaluate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08. Train/Test Split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5828308" cy="891769"/>
            <a:chOff x="0" y="0"/>
            <a:chExt cx="153502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028" cy="234869"/>
            </a:xfrm>
            <a:custGeom>
              <a:avLst/>
              <a:gdLst/>
              <a:ahLst/>
              <a:cxnLst/>
              <a:rect r="r" b="b" t="t" l="l"/>
              <a:pathLst>
                <a:path h="234869" w="1535028">
                  <a:moveTo>
                    <a:pt x="0" y="0"/>
                  </a:moveTo>
                  <a:lnTo>
                    <a:pt x="1535028" y="0"/>
                  </a:lnTo>
                  <a:lnTo>
                    <a:pt x="153502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502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772865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723451" y="2152418"/>
            <a:ext cx="2441664" cy="1220832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Split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9406" y="2152418"/>
            <a:ext cx="2441664" cy="1220832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Scale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900345" y="5251806"/>
          <a:ext cx="9066924" cy="2914650"/>
        </p:xfrm>
        <a:graphic>
          <a:graphicData uri="http://schemas.openxmlformats.org/drawingml/2006/table">
            <a:tbl>
              <a:tblPr/>
              <a:tblGrid>
                <a:gridCol w="2095826"/>
                <a:gridCol w="4942182"/>
                <a:gridCol w="2028917"/>
              </a:tblGrid>
              <a:tr h="8493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Typical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10326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Training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 learns patterns from this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70-80%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6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Simulates unseen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20-30%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Train/Test Split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00345" y="4076420"/>
            <a:ext cx="13965829" cy="474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idea: Before training, split your dataset into two parts: one to learn from, one to evaluate on.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=&gt; </a:t>
            </a: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(Studying past exams)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5828308" cy="891769"/>
            <a:chOff x="0" y="0"/>
            <a:chExt cx="153502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028" cy="234869"/>
            </a:xfrm>
            <a:custGeom>
              <a:avLst/>
              <a:gdLst/>
              <a:ahLst/>
              <a:cxnLst/>
              <a:rect r="r" b="b" t="t" l="l"/>
              <a:pathLst>
                <a:path h="234869" w="1535028">
                  <a:moveTo>
                    <a:pt x="0" y="0"/>
                  </a:moveTo>
                  <a:lnTo>
                    <a:pt x="1535028" y="0"/>
                  </a:lnTo>
                  <a:lnTo>
                    <a:pt x="153502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502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772865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723451" y="2152418"/>
            <a:ext cx="2441664" cy="1220832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Split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9406" y="2152418"/>
            <a:ext cx="2441664" cy="1220832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Scale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900345" y="4705806"/>
            <a:ext cx="13350725" cy="3834625"/>
          </a:xfrm>
          <a:custGeom>
            <a:avLst/>
            <a:gdLst/>
            <a:ahLst/>
            <a:cxnLst/>
            <a:rect r="r" b="b" t="t" l="l"/>
            <a:pathLst>
              <a:path h="3834625" w="13350725">
                <a:moveTo>
                  <a:pt x="0" y="0"/>
                </a:moveTo>
                <a:lnTo>
                  <a:pt x="13350725" y="0"/>
                </a:lnTo>
                <a:lnTo>
                  <a:pt x="13350725" y="3834625"/>
                </a:lnTo>
                <a:lnTo>
                  <a:pt x="0" y="3834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255" b="-200045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Train/Test Split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00345" y="3793034"/>
            <a:ext cx="1396582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sklearn.model_selection.train_test_split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6925764" cy="891769"/>
            <a:chOff x="0" y="0"/>
            <a:chExt cx="1824070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4070" cy="234869"/>
            </a:xfrm>
            <a:custGeom>
              <a:avLst/>
              <a:gdLst/>
              <a:ahLst/>
              <a:cxnLst/>
              <a:rect r="r" b="b" t="t" l="l"/>
              <a:pathLst>
                <a:path h="234869" w="1824070">
                  <a:moveTo>
                    <a:pt x="0" y="0"/>
                  </a:moveTo>
                  <a:lnTo>
                    <a:pt x="1824070" y="0"/>
                  </a:lnTo>
                  <a:lnTo>
                    <a:pt x="182407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2407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8826109" y="215241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723451" y="2152418"/>
            <a:ext cx="2441664" cy="1220832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Split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9406" y="2152418"/>
            <a:ext cx="2441664" cy="1220832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Scale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900345" y="5442306"/>
          <a:ext cx="13965829" cy="3933825"/>
        </p:xfrm>
        <a:graphic>
          <a:graphicData uri="http://schemas.openxmlformats.org/drawingml/2006/table">
            <a:tbl>
              <a:tblPr/>
              <a:tblGrid>
                <a:gridCol w="4095275"/>
                <a:gridCol w="6745403"/>
                <a:gridCol w="3125151"/>
              </a:tblGrid>
              <a:tr h="846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Typical Size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1029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Training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 learns patterns from this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60-70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Validation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Tune hyperparameters, compare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15-20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Final evaluation only (touch once)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15-20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The three-way split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00345" y="4076420"/>
            <a:ext cx="13965829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Train, Validation &amp; Test Split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8579670" cy="891769"/>
            <a:chOff x="0" y="0"/>
            <a:chExt cx="2259666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9666" cy="234869"/>
            </a:xfrm>
            <a:custGeom>
              <a:avLst/>
              <a:gdLst/>
              <a:ahLst/>
              <a:cxnLst/>
              <a:rect r="r" b="b" t="t" l="l"/>
              <a:pathLst>
                <a:path h="234869" w="2259666">
                  <a:moveTo>
                    <a:pt x="0" y="0"/>
                  </a:moveTo>
                  <a:lnTo>
                    <a:pt x="2259666" y="0"/>
                  </a:lnTo>
                  <a:lnTo>
                    <a:pt x="225966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5966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10480015" y="215241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459288" y="6728044"/>
            <a:ext cx="2441664" cy="1220832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Split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45243" y="6728044"/>
            <a:ext cx="2441664" cy="1220832"/>
            <a:chOff x="0" y="0"/>
            <a:chExt cx="812800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72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Scale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131263" y="5418620"/>
            <a:ext cx="6580745" cy="3839680"/>
          </a:xfrm>
          <a:custGeom>
            <a:avLst/>
            <a:gdLst/>
            <a:ahLst/>
            <a:cxnLst/>
            <a:rect r="r" b="b" t="t" l="l"/>
            <a:pathLst>
              <a:path h="3839680" w="6580745">
                <a:moveTo>
                  <a:pt x="0" y="0"/>
                </a:moveTo>
                <a:lnTo>
                  <a:pt x="6580745" y="0"/>
                </a:lnTo>
                <a:lnTo>
                  <a:pt x="6580745" y="3839680"/>
                </a:lnTo>
                <a:lnTo>
                  <a:pt x="0" y="38396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" t="0" r="-384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006980" y="2516219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Train/Test Split &amp; Leakage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00345" y="4076420"/>
            <a:ext cx="13965829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leakage: When information from the test set "leaks" into training, making your model look better than it really is.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DAHDzhvtHBM</dc:identifier>
  <dcterms:modified xsi:type="dcterms:W3CDTF">2011-08-01T06:04:30Z</dcterms:modified>
  <cp:revision>1</cp:revision>
  <dc:title>Iteration 1.7</dc:title>
</cp:coreProperties>
</file>