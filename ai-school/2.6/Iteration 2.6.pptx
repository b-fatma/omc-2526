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JetBrains Mono" charset="1" panose="02010509020102050004"/>
      <p:regular r:id="rId30"/>
    </p:embeddedFont>
    <p:embeddedFont>
      <p:font typeface="Kaushan Script" charset="1" panose="03060602040705080205"/>
      <p:regular r:id="rId31"/>
    </p:embeddedFont>
    <p:embeddedFont>
      <p:font typeface="JetBrains Mono Bold" charset="1" panose="02010809030102050004"/>
      <p:regular r:id="rId32"/>
    </p:embeddedFont>
    <p:embeddedFont>
      <p:font typeface="JetBrains Mono Bold Italics" charset="1" panose="02010809030102050004"/>
      <p:regular r:id="rId33"/>
    </p:embeddedFont>
    <p:embeddedFont>
      <p:font typeface="Canva Sans Bold" charset="1" panose="020B0803030501040103"/>
      <p:regular r:id="rId34"/>
    </p:embeddedFont>
    <p:embeddedFont>
      <p:font typeface="JetBrains Mono Italics" charset="1" panose="02010509020102050004"/>
      <p:regular r:id="rId35"/>
    </p:embeddedFont>
    <p:embeddedFont>
      <p:font typeface="Canva Sans" charset="1" panose="020B0503030501040103"/>
      <p:regular r:id="rId36"/>
    </p:embeddedFont>
    <p:embeddedFont>
      <p:font typeface="Arimo" charset="1" panose="020B0604020202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170744" y="375272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16027" y="1462767"/>
            <a:ext cx="13771673" cy="6201585"/>
            <a:chOff x="0" y="0"/>
            <a:chExt cx="3627107" cy="163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27107" cy="1633339"/>
            </a:xfrm>
            <a:custGeom>
              <a:avLst/>
              <a:gdLst/>
              <a:ahLst/>
              <a:cxnLst/>
              <a:rect r="r" b="b" t="t" l="l"/>
              <a:pathLst>
                <a:path h="1633339" w="3627107">
                  <a:moveTo>
                    <a:pt x="28670" y="0"/>
                  </a:moveTo>
                  <a:lnTo>
                    <a:pt x="3598437" y="0"/>
                  </a:lnTo>
                  <a:cubicBezTo>
                    <a:pt x="3614271" y="0"/>
                    <a:pt x="3627107" y="12836"/>
                    <a:pt x="3627107" y="28670"/>
                  </a:cubicBezTo>
                  <a:lnTo>
                    <a:pt x="3627107" y="1604669"/>
                  </a:lnTo>
                  <a:cubicBezTo>
                    <a:pt x="3627107" y="1612273"/>
                    <a:pt x="3624087" y="1619565"/>
                    <a:pt x="3618710" y="1624942"/>
                  </a:cubicBezTo>
                  <a:cubicBezTo>
                    <a:pt x="3613333" y="1630319"/>
                    <a:pt x="3606041" y="1633339"/>
                    <a:pt x="3598437" y="1633339"/>
                  </a:cubicBezTo>
                  <a:lnTo>
                    <a:pt x="28670" y="1633339"/>
                  </a:lnTo>
                  <a:cubicBezTo>
                    <a:pt x="12836" y="1633339"/>
                    <a:pt x="0" y="1620503"/>
                    <a:pt x="0" y="1604669"/>
                  </a:cubicBezTo>
                  <a:lnTo>
                    <a:pt x="0" y="28670"/>
                  </a:lnTo>
                  <a:cubicBezTo>
                    <a:pt x="0" y="12836"/>
                    <a:pt x="12836" y="0"/>
                    <a:pt x="28670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27107" cy="1671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55322" y="1959801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09491" y="1959801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61799" y="1959801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10257" y="6531115"/>
            <a:ext cx="213757" cy="21375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390678" y="5629912"/>
            <a:ext cx="6240712" cy="3043916"/>
            <a:chOff x="0" y="0"/>
            <a:chExt cx="3173713" cy="15479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3713" cy="1547983"/>
            </a:xfrm>
            <a:custGeom>
              <a:avLst/>
              <a:gdLst/>
              <a:ahLst/>
              <a:cxnLst/>
              <a:rect r="r" b="b" t="t" l="l"/>
              <a:pathLst>
                <a:path h="1547983" w="3173713">
                  <a:moveTo>
                    <a:pt x="21089" y="0"/>
                  </a:moveTo>
                  <a:lnTo>
                    <a:pt x="3152623" y="0"/>
                  </a:lnTo>
                  <a:cubicBezTo>
                    <a:pt x="3158217" y="0"/>
                    <a:pt x="3163581" y="2222"/>
                    <a:pt x="3167536" y="6177"/>
                  </a:cubicBezTo>
                  <a:cubicBezTo>
                    <a:pt x="3171491" y="10132"/>
                    <a:pt x="3173713" y="15496"/>
                    <a:pt x="3173713" y="21089"/>
                  </a:cubicBezTo>
                  <a:lnTo>
                    <a:pt x="3173713" y="1526894"/>
                  </a:lnTo>
                  <a:cubicBezTo>
                    <a:pt x="3173713" y="1532487"/>
                    <a:pt x="3171491" y="1537851"/>
                    <a:pt x="3167536" y="1541806"/>
                  </a:cubicBezTo>
                  <a:cubicBezTo>
                    <a:pt x="3163581" y="1545761"/>
                    <a:pt x="3158217" y="1547983"/>
                    <a:pt x="3152623" y="1547983"/>
                  </a:cubicBezTo>
                  <a:lnTo>
                    <a:pt x="21089" y="1547983"/>
                  </a:lnTo>
                  <a:cubicBezTo>
                    <a:pt x="15496" y="1547983"/>
                    <a:pt x="10132" y="1545761"/>
                    <a:pt x="6177" y="1541806"/>
                  </a:cubicBezTo>
                  <a:cubicBezTo>
                    <a:pt x="2222" y="1537851"/>
                    <a:pt x="0" y="1532487"/>
                    <a:pt x="0" y="1526894"/>
                  </a:cubicBezTo>
                  <a:lnTo>
                    <a:pt x="0" y="21089"/>
                  </a:lnTo>
                  <a:cubicBezTo>
                    <a:pt x="0" y="15496"/>
                    <a:pt x="2222" y="10132"/>
                    <a:pt x="6177" y="6177"/>
                  </a:cubicBezTo>
                  <a:cubicBezTo>
                    <a:pt x="10132" y="2222"/>
                    <a:pt x="15496" y="0"/>
                    <a:pt x="21089" y="0"/>
                  </a:cubicBezTo>
                  <a:close/>
                </a:path>
              </a:pathLst>
            </a:custGeom>
            <a:solidFill>
              <a:srgbClr val="2024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73713" cy="1586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15710" y="5929565"/>
            <a:ext cx="179985" cy="179985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50920" y="5929565"/>
            <a:ext cx="179985" cy="179985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85168" y="5929565"/>
            <a:ext cx="179985" cy="179985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631390" y="-124893"/>
            <a:ext cx="2401212" cy="4169388"/>
            <a:chOff x="0" y="0"/>
            <a:chExt cx="632418" cy="10981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2418" cy="1098110"/>
            </a:xfrm>
            <a:custGeom>
              <a:avLst/>
              <a:gdLst/>
              <a:ahLst/>
              <a:cxnLst/>
              <a:rect r="r" b="b" t="t" l="l"/>
              <a:pathLst>
                <a:path h="1098110" w="632418">
                  <a:moveTo>
                    <a:pt x="99949" y="0"/>
                  </a:moveTo>
                  <a:lnTo>
                    <a:pt x="532469" y="0"/>
                  </a:lnTo>
                  <a:cubicBezTo>
                    <a:pt x="587669" y="0"/>
                    <a:pt x="632418" y="44749"/>
                    <a:pt x="632418" y="99949"/>
                  </a:cubicBezTo>
                  <a:lnTo>
                    <a:pt x="632418" y="998161"/>
                  </a:lnTo>
                  <a:cubicBezTo>
                    <a:pt x="632418" y="1053361"/>
                    <a:pt x="587669" y="1098110"/>
                    <a:pt x="532469" y="1098110"/>
                  </a:cubicBezTo>
                  <a:lnTo>
                    <a:pt x="99949" y="1098110"/>
                  </a:lnTo>
                  <a:cubicBezTo>
                    <a:pt x="44749" y="1098110"/>
                    <a:pt x="0" y="1053361"/>
                    <a:pt x="0" y="998161"/>
                  </a:cubicBezTo>
                  <a:lnTo>
                    <a:pt x="0" y="99949"/>
                  </a:lnTo>
                  <a:cubicBezTo>
                    <a:pt x="0" y="44749"/>
                    <a:pt x="44749" y="0"/>
                    <a:pt x="99949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32418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5400000">
            <a:off x="16995547" y="2823093"/>
            <a:ext cx="988012" cy="871247"/>
          </a:xfrm>
          <a:custGeom>
            <a:avLst/>
            <a:gdLst/>
            <a:ahLst/>
            <a:cxnLst/>
            <a:rect r="r" b="b" t="t" l="l"/>
            <a:pathLst>
              <a:path h="871247" w="988012">
                <a:moveTo>
                  <a:pt x="0" y="0"/>
                </a:moveTo>
                <a:lnTo>
                  <a:pt x="988011" y="0"/>
                </a:lnTo>
                <a:lnTo>
                  <a:pt x="988011" y="871247"/>
                </a:lnTo>
                <a:lnTo>
                  <a:pt x="0" y="871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458731" y="3867150"/>
            <a:ext cx="12320897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Random Forests, Naive Bayes and SVM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14836777" y="3720248"/>
            <a:ext cx="0" cy="165397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7844839" y="7959139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-5400000">
            <a:off x="16463330" y="1468654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65365" y="2918674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School Iteration 2.6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11916" y="6776585"/>
            <a:ext cx="554361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By BOULGHERAIF Fatma Zohra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11916" y="6795635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&lt;h4&gt;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24014" y="7396980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&lt;/h4&gt;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Random Forests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91597" cy="891769"/>
            <a:chOff x="0" y="0"/>
            <a:chExt cx="1762396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2396" cy="234869"/>
            </a:xfrm>
            <a:custGeom>
              <a:avLst/>
              <a:gdLst/>
              <a:ahLst/>
              <a:cxnLst/>
              <a:rect r="r" b="b" t="t" l="l"/>
              <a:pathLst>
                <a:path h="234869" w="1762396">
                  <a:moveTo>
                    <a:pt x="0" y="0"/>
                  </a:moveTo>
                  <a:lnTo>
                    <a:pt x="1762396" y="0"/>
                  </a:lnTo>
                  <a:lnTo>
                    <a:pt x="1762396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2396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649092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93491" y="3843202"/>
            <a:ext cx="9042899" cy="4917148"/>
          </a:xfrm>
          <a:custGeom>
            <a:avLst/>
            <a:gdLst/>
            <a:ahLst/>
            <a:cxnLst/>
            <a:rect r="r" b="b" t="t" l="l"/>
            <a:pathLst>
              <a:path h="4917148" w="9042899">
                <a:moveTo>
                  <a:pt x="0" y="0"/>
                </a:moveTo>
                <a:lnTo>
                  <a:pt x="9042899" y="0"/>
                </a:lnTo>
                <a:lnTo>
                  <a:pt x="9042899" y="4917148"/>
                </a:lnTo>
                <a:lnTo>
                  <a:pt x="0" y="49171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433" t="0" r="-14266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Decision Tree Recap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2811" y="5105400"/>
            <a:ext cx="5725203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Decision Tree learns a 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hierarchy of binary rules</a:t>
            </a: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on the features.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Each 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internal node</a:t>
            </a: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a split condition: feature ≤ threshold?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Each </a:t>
            </a:r>
            <a:r>
              <a:rPr lang="en-US" b="true" sz="21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leaf</a:t>
            </a: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a class prediction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490814" cy="891769"/>
            <a:chOff x="0" y="0"/>
            <a:chExt cx="2499638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99638" cy="234869"/>
            </a:xfrm>
            <a:custGeom>
              <a:avLst/>
              <a:gdLst/>
              <a:ahLst/>
              <a:cxnLst/>
              <a:rect r="r" b="b" t="t" l="l"/>
              <a:pathLst>
                <a:path h="234869" w="2499638">
                  <a:moveTo>
                    <a:pt x="0" y="0"/>
                  </a:moveTo>
                  <a:lnTo>
                    <a:pt x="2499638" y="0"/>
                  </a:lnTo>
                  <a:lnTo>
                    <a:pt x="249963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9963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391159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3242891" y="5918906"/>
          <a:ext cx="12451336" cy="3339394"/>
        </p:xfrm>
        <a:graphic>
          <a:graphicData uri="http://schemas.openxmlformats.org/drawingml/2006/table">
            <a:tbl>
              <a:tblPr/>
              <a:tblGrid>
                <a:gridCol w="3649718"/>
                <a:gridCol w="8801618"/>
              </a:tblGrid>
              <a:tr h="843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Single Decision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43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Good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Interpretability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3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Low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(small data changes → big boundary changes)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006980" y="2516219"/>
            <a:ext cx="9075530" cy="59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4"/>
              </a:lnSpc>
            </a:pPr>
            <a:r>
              <a:rPr lang="en-US" sz="3502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The Problem with a Single Tree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3996869"/>
            <a:ext cx="10126295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Decision Trees are unstable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han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 few tra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ints → completely different tree.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33264" y="5067040"/>
            <a:ext cx="3682307" cy="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52811" y="4322034"/>
            <a:ext cx="15353790" cy="25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6AC27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question:</a:t>
            </a: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Can we keep the accuracy but reduce the instability?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→ </a:t>
            </a:r>
            <a:r>
              <a:rPr lang="en-US" b="true" sz="2999">
                <a:solidFill>
                  <a:srgbClr val="F6AC27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Yes.</a:t>
            </a:r>
            <a:r>
              <a:rPr lang="en-US" b="true" sz="29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2999" i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Train many trees and let them vote.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THIS IS ENSEMBLE LEARNING.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856286" cy="891769"/>
            <a:chOff x="0" y="0"/>
            <a:chExt cx="233252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32520" cy="234869"/>
            </a:xfrm>
            <a:custGeom>
              <a:avLst/>
              <a:gdLst/>
              <a:ahLst/>
              <a:cxnLst/>
              <a:rect r="r" b="b" t="t" l="l"/>
              <a:pathLst>
                <a:path h="234869" w="2332520">
                  <a:moveTo>
                    <a:pt x="0" y="0"/>
                  </a:moveTo>
                  <a:lnTo>
                    <a:pt x="2332520" y="0"/>
                  </a:lnTo>
                  <a:lnTo>
                    <a:pt x="233252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3252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756631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893169" y="4429928"/>
            <a:ext cx="11000220" cy="5133436"/>
          </a:xfrm>
          <a:custGeom>
            <a:avLst/>
            <a:gdLst/>
            <a:ahLst/>
            <a:cxnLst/>
            <a:rect r="r" b="b" t="t" l="l"/>
            <a:pathLst>
              <a:path h="5133436" w="11000220">
                <a:moveTo>
                  <a:pt x="0" y="0"/>
                </a:moveTo>
                <a:lnTo>
                  <a:pt x="11000220" y="0"/>
                </a:lnTo>
                <a:lnTo>
                  <a:pt x="11000220" y="5133436"/>
                </a:lnTo>
                <a:lnTo>
                  <a:pt x="0" y="51334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30175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Bagging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3549194"/>
            <a:ext cx="12329576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1: Give each tree different training 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856286" cy="891769"/>
            <a:chOff x="0" y="0"/>
            <a:chExt cx="233252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32520" cy="234869"/>
            </a:xfrm>
            <a:custGeom>
              <a:avLst/>
              <a:gdLst/>
              <a:ahLst/>
              <a:cxnLst/>
              <a:rect r="r" b="b" t="t" l="l"/>
              <a:pathLst>
                <a:path h="234869" w="2332520">
                  <a:moveTo>
                    <a:pt x="0" y="0"/>
                  </a:moveTo>
                  <a:lnTo>
                    <a:pt x="2332520" y="0"/>
                  </a:lnTo>
                  <a:lnTo>
                    <a:pt x="233252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3252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756631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30175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Bagging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549194"/>
            <a:ext cx="12329576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1: Give each tree different training data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4615994"/>
            <a:ext cx="15007641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For each tree, draw a</a:t>
            </a:r>
            <a:r>
              <a:rPr lang="en-US" sz="23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b="true" sz="2399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random sample with replacement</a:t>
            </a:r>
            <a:r>
              <a:rPr lang="en-US" sz="23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the training set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Each sample is roughly the same size, but some points appear twice, others not at all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~37% of points are left out of each sample → called </a:t>
            </a:r>
            <a:r>
              <a:rPr lang="en-US" b="true" sz="2399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Out-of-Bag (OOB)</a:t>
            </a:r>
            <a:r>
              <a:rPr lang="en-US" b="true" sz="23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samples, free validation, no separate val set needed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Key idea: different data → different trees → genuine diversity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856286" cy="891769"/>
            <a:chOff x="0" y="0"/>
            <a:chExt cx="233252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32520" cy="234869"/>
            </a:xfrm>
            <a:custGeom>
              <a:avLst/>
              <a:gdLst/>
              <a:ahLst/>
              <a:cxnLst/>
              <a:rect r="r" b="b" t="t" l="l"/>
              <a:pathLst>
                <a:path h="234869" w="2332520">
                  <a:moveTo>
                    <a:pt x="0" y="0"/>
                  </a:moveTo>
                  <a:lnTo>
                    <a:pt x="2332520" y="0"/>
                  </a:lnTo>
                  <a:lnTo>
                    <a:pt x="233252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3252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756631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60350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Feature Randomness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549194"/>
            <a:ext cx="1400672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2: Each split considers only a random subset of features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4615994"/>
            <a:ext cx="15007641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 every split, each tree only considers a </a:t>
            </a:r>
            <a:r>
              <a:rPr lang="en-US" b="true" sz="23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random subset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of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features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(default: √d).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tops 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tre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 from always splitting on the same feature → trees are l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ss 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correlated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→ av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ing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work</a:t>
            </a:r>
            <a:r>
              <a:rPr lang="en-US" sz="23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better.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Bagging + feature randomness = a forest of genuinely different trees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511218" y="5143500"/>
            <a:ext cx="8436819" cy="4319419"/>
          </a:xfrm>
          <a:custGeom>
            <a:avLst/>
            <a:gdLst/>
            <a:ahLst/>
            <a:cxnLst/>
            <a:rect r="r" b="b" t="t" l="l"/>
            <a:pathLst>
              <a:path h="4319419" w="8436819">
                <a:moveTo>
                  <a:pt x="0" y="0"/>
                </a:moveTo>
                <a:lnTo>
                  <a:pt x="8436819" y="0"/>
                </a:lnTo>
                <a:lnTo>
                  <a:pt x="8436819" y="4319419"/>
                </a:lnTo>
                <a:lnTo>
                  <a:pt x="0" y="43194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46" r="0" b="-246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Why Averaging Works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677550"/>
            <a:ext cx="13965829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One tree makes errors.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100 trees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rare</a:t>
            </a:r>
            <a:r>
              <a:rPr lang="en-US" b="true" sz="2400" u="non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y </a:t>
            </a:r>
            <a:r>
              <a:rPr lang="en-US" b="true" sz="2400" u="non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all 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</a:t>
            </a:r>
            <a:r>
              <a:rPr lang="en-US" b="true" sz="2400" u="non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ke the s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ame error in the same place.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=&gt; Averaging reduces mistakes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79552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Random Forest in Practice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00345" y="4378738"/>
            <a:ext cx="14069151" cy="41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from sklearn.ensemble import RandomForestClassifier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rf = RandomForestClassifier(</a:t>
            </a:r>
            <a:r>
              <a:rPr lang="en-US" sz="2400" i="true" b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n_estimators</a:t>
            </a:r>
            <a:r>
              <a:rPr lang="en-US" sz="24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=</a:t>
            </a:r>
            <a:r>
              <a:rPr lang="en-US" sz="24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100, </a:t>
            </a:r>
            <a:r>
              <a:rPr lang="en-US" sz="2400" i="true" b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max_features</a:t>
            </a:r>
            <a:r>
              <a:rPr lang="en-US" sz="24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='sqrt',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                         </a:t>
            </a:r>
            <a:r>
              <a:rPr lang="en-US" b="true" sz="2400" i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r</a:t>
            </a:r>
            <a:r>
              <a:rPr lang="en-US" b="true" sz="2400" i="true" u="non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ando</a:t>
            </a:r>
            <a:r>
              <a:rPr lang="en-US" b="true" sz="2400" i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m_st</a:t>
            </a:r>
            <a:r>
              <a:rPr lang="en-US" b="true" sz="2400" i="true" u="non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at</a:t>
            </a:r>
            <a:r>
              <a:rPr lang="en-US" b="true" sz="2400" i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e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=42)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rf.fit(X_tr, y_tr)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print(rf.feature_importances_) # averaged → stable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Scaling not required.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Naive Bayes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485855" cy="891769"/>
            <a:chOff x="0" y="0"/>
            <a:chExt cx="276170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61707" cy="234869"/>
            </a:xfrm>
            <a:custGeom>
              <a:avLst/>
              <a:gdLst/>
              <a:ahLst/>
              <a:cxnLst/>
              <a:rect r="r" b="b" t="t" l="l"/>
              <a:pathLst>
                <a:path h="234869" w="2761707">
                  <a:moveTo>
                    <a:pt x="0" y="0"/>
                  </a:moveTo>
                  <a:lnTo>
                    <a:pt x="2761707" y="0"/>
                  </a:lnTo>
                  <a:lnTo>
                    <a:pt x="276170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6170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2386200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2180746" y="4222995"/>
          <a:ext cx="13617193" cy="3990975"/>
        </p:xfrm>
        <a:graphic>
          <a:graphicData uri="http://schemas.openxmlformats.org/drawingml/2006/table">
            <a:tbl>
              <a:tblPr/>
              <a:tblGrid>
                <a:gridCol w="6963688"/>
                <a:gridCol w="6653505"/>
              </a:tblGrid>
              <a:tr h="10289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Discriminative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JetBrains Mono Bold"/>
                          <a:ea typeface="JetBrains Mono Bold"/>
                          <a:cs typeface="JetBrains Mono Bold"/>
                          <a:sym typeface="JetBrains Mono Bold"/>
                        </a:rPr>
                        <a:t>Generative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19329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Discriminative classifiers learn the boundary between classes (P(y|x)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), focusing on direct mapping for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generative classifiers learn the underlying distribution of each class (P(x,y) or P(x|y)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understand how data is generated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9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180746" y="2548002"/>
            <a:ext cx="98755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07. Two Approaches to Classification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485855" cy="891769"/>
            <a:chOff x="0" y="0"/>
            <a:chExt cx="276170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61707" cy="234869"/>
            </a:xfrm>
            <a:custGeom>
              <a:avLst/>
              <a:gdLst/>
              <a:ahLst/>
              <a:cxnLst/>
              <a:rect r="r" b="b" t="t" l="l"/>
              <a:pathLst>
                <a:path h="234869" w="2761707">
                  <a:moveTo>
                    <a:pt x="0" y="0"/>
                  </a:moveTo>
                  <a:lnTo>
                    <a:pt x="2761707" y="0"/>
                  </a:lnTo>
                  <a:lnTo>
                    <a:pt x="276170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6170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2386200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180746" y="2548002"/>
            <a:ext cx="49377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</a:t>
            </a:r>
            <a:r>
              <a:rPr lang="en-US" sz="36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Bayes' Theorem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24200" y="4505719"/>
            <a:ext cx="120396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P(class | feature)  ∝  P(feature | class) × P(class)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5931444"/>
            <a:ext cx="10377646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P(class | feature): What we want, the class probability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P(feature | class): How likely is this data in that class?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P(class): How common is this class overall?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Pick the class with the highest product. No training loop needed.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485855" cy="891769"/>
            <a:chOff x="0" y="0"/>
            <a:chExt cx="276170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61707" cy="234869"/>
            </a:xfrm>
            <a:custGeom>
              <a:avLst/>
              <a:gdLst/>
              <a:ahLst/>
              <a:cxnLst/>
              <a:rect r="r" b="b" t="t" l="l"/>
              <a:pathLst>
                <a:path h="234869" w="2761707">
                  <a:moveTo>
                    <a:pt x="0" y="0"/>
                  </a:moveTo>
                  <a:lnTo>
                    <a:pt x="2761707" y="0"/>
                  </a:lnTo>
                  <a:lnTo>
                    <a:pt x="276170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6170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2386200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0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180746" y="2548002"/>
            <a:ext cx="65836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09. The Naive Assumption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77403" y="4454069"/>
            <a:ext cx="15176526" cy="25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Each feature is </a:t>
            </a:r>
            <a:r>
              <a:rPr lang="en-US" b="true" sz="2999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independent</a:t>
            </a:r>
            <a:r>
              <a:rPr lang="en-US" sz="29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of the others, given the </a:t>
            </a:r>
            <a:r>
              <a:rPr lang="en-US" sz="29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Almost never true in practice, yet NB often works well. Even when individual probabilities are off, the ranking of classes is frequently correct.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70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SUPPORT VECTOR MACHINES</a:t>
            </a:r>
          </a:p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SVM)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1806237" cy="891769"/>
            <a:chOff x="0" y="0"/>
            <a:chExt cx="3109462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09462" cy="234869"/>
            </a:xfrm>
            <a:custGeom>
              <a:avLst/>
              <a:gdLst/>
              <a:ahLst/>
              <a:cxnLst/>
              <a:rect r="r" b="b" t="t" l="l"/>
              <a:pathLst>
                <a:path h="234869" w="3109462">
                  <a:moveTo>
                    <a:pt x="0" y="0"/>
                  </a:moveTo>
                  <a:lnTo>
                    <a:pt x="3109462" y="0"/>
                  </a:lnTo>
                  <a:lnTo>
                    <a:pt x="3109462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09462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3706582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114757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The Problem: Too Many Valid Boundaries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4066895"/>
            <a:ext cx="14256822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any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linearly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ble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atas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t, i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ely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line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Logist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ic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ck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 on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is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ally 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Which boundary is best?</a:t>
            </a:r>
            <a:r>
              <a:rPr lang="en-US" b="true" sz="27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→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 S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VM's 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a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nsw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er: 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the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 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on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e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 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t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h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at is </a:t>
            </a:r>
            <a:r>
              <a:rPr lang="en-US" b="true" sz="2799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as far as possible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 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f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ro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m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 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bo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th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 cl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a</a:t>
            </a:r>
            <a:r>
              <a:rPr lang="en-US" sz="2799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sses.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06980" y="3766994"/>
            <a:ext cx="7958054" cy="5417392"/>
          </a:xfrm>
          <a:custGeom>
            <a:avLst/>
            <a:gdLst/>
            <a:ahLst/>
            <a:cxnLst/>
            <a:rect r="r" b="b" t="t" l="l"/>
            <a:pathLst>
              <a:path h="5417392" w="7958054">
                <a:moveTo>
                  <a:pt x="0" y="0"/>
                </a:moveTo>
                <a:lnTo>
                  <a:pt x="7958054" y="0"/>
                </a:lnTo>
                <a:lnTo>
                  <a:pt x="7958054" y="5417392"/>
                </a:lnTo>
                <a:lnTo>
                  <a:pt x="0" y="54173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59893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The Maximum Margin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05144" y="5716909"/>
            <a:ext cx="615115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EFEF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circled points = support vectors, the only ones that define the boundary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166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Support Vectors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4643974"/>
            <a:ext cx="14955954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bounda</a:t>
            </a:r>
            <a:r>
              <a:rPr lang="en-US" sz="27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ry is defined by just a few points sitting on the margin edge.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other training points are irrelevant, removing them doesn't change the model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Once trained, only support vectors need to be stored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Compared to: KNN uses all training points at prediction time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822135" y="3659197"/>
            <a:ext cx="10071470" cy="5172246"/>
          </a:xfrm>
          <a:custGeom>
            <a:avLst/>
            <a:gdLst/>
            <a:ahLst/>
            <a:cxnLst/>
            <a:rect r="r" b="b" t="t" l="l"/>
            <a:pathLst>
              <a:path h="5172246" w="10071470">
                <a:moveTo>
                  <a:pt x="0" y="0"/>
                </a:moveTo>
                <a:lnTo>
                  <a:pt x="10071470" y="0"/>
                </a:lnTo>
                <a:lnTo>
                  <a:pt x="10071470" y="5172246"/>
                </a:lnTo>
                <a:lnTo>
                  <a:pt x="0" y="51722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060" r="0" b="-106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5166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The C Parameter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6578" y="9136243"/>
            <a:ext cx="147829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Tolerates misclassifications vs. Tighter fit to training data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Wrap Up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14650" cy="891769"/>
            <a:chOff x="0" y="0"/>
            <a:chExt cx="174213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2130" cy="234869"/>
            </a:xfrm>
            <a:custGeom>
              <a:avLst/>
              <a:gdLst/>
              <a:ahLst/>
              <a:cxnLst/>
              <a:rect r="r" b="b" t="t" l="l"/>
              <a:pathLst>
                <a:path h="234869" w="1742130">
                  <a:moveTo>
                    <a:pt x="0" y="0"/>
                  </a:moveTo>
                  <a:lnTo>
                    <a:pt x="1742130" y="0"/>
                  </a:lnTo>
                  <a:lnTo>
                    <a:pt x="174213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4213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214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900345" y="3912908"/>
          <a:ext cx="14604356" cy="5345392"/>
        </p:xfrm>
        <a:graphic>
          <a:graphicData uri="http://schemas.openxmlformats.org/drawingml/2006/table">
            <a:tbl>
              <a:tblPr/>
              <a:tblGrid>
                <a:gridCol w="3651089"/>
                <a:gridCol w="3651089"/>
                <a:gridCol w="3651089"/>
                <a:gridCol w="3651089"/>
              </a:tblGrid>
              <a:tr h="11147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Scaling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Interpretable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442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Slow at inference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2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Decision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2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Partial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2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Partial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Very fast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8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EFEF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Slow for large 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006980" y="2516219"/>
            <a:ext cx="41148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All Five Models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14650" cy="891769"/>
            <a:chOff x="0" y="0"/>
            <a:chExt cx="174213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2130" cy="234869"/>
            </a:xfrm>
            <a:custGeom>
              <a:avLst/>
              <a:gdLst/>
              <a:ahLst/>
              <a:cxnLst/>
              <a:rect r="r" b="b" t="t" l="l"/>
              <a:pathLst>
                <a:path h="234869" w="1742130">
                  <a:moveTo>
                    <a:pt x="0" y="0"/>
                  </a:moveTo>
                  <a:lnTo>
                    <a:pt x="1742130" y="0"/>
                  </a:lnTo>
                  <a:lnTo>
                    <a:pt x="174213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4213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214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46634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Model Family Tree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4230697"/>
            <a:ext cx="10010298" cy="25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6AC66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models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├── Instance-based    →  KNN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├── Rule-based        →  Decision Tree, Random Forest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├── Probabilistic     →  Naive Bayes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└── Margin-based      →  SVM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428037" y="3752722"/>
            <a:ext cx="3431927" cy="3431927"/>
          </a:xfrm>
          <a:custGeom>
            <a:avLst/>
            <a:gdLst/>
            <a:ahLst/>
            <a:cxnLst/>
            <a:rect r="r" b="b" t="t" l="l"/>
            <a:pathLst>
              <a:path h="3431927" w="3431927">
                <a:moveTo>
                  <a:pt x="0" y="0"/>
                </a:moveTo>
                <a:lnTo>
                  <a:pt x="3431926" y="0"/>
                </a:lnTo>
                <a:lnTo>
                  <a:pt x="3431926" y="3431927"/>
                </a:lnTo>
                <a:lnTo>
                  <a:pt x="0" y="343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6648" y="4727612"/>
            <a:ext cx="7314704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Questions 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78936" y="-23493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06980" y="4098221"/>
            <a:ext cx="14812572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 for your attention ✨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00345" y="4231571"/>
            <a:ext cx="5056654" cy="1184910"/>
            <a:chOff x="0" y="0"/>
            <a:chExt cx="1331794" cy="3120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1794" cy="312075"/>
            </a:xfrm>
            <a:custGeom>
              <a:avLst/>
              <a:gdLst/>
              <a:ahLst/>
              <a:cxnLst/>
              <a:rect r="r" b="b" t="t" l="l"/>
              <a:pathLst>
                <a:path h="312075" w="1331794">
                  <a:moveTo>
                    <a:pt x="0" y="0"/>
                  </a:moveTo>
                  <a:lnTo>
                    <a:pt x="1331794" y="0"/>
                  </a:lnTo>
                  <a:lnTo>
                    <a:pt x="1331794" y="312075"/>
                  </a:lnTo>
                  <a:lnTo>
                    <a:pt x="0" y="312075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1794" cy="350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7014149" y="3853727"/>
            <a:ext cx="0" cy="1940596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44839" y="8147301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DAHIWbc5cIY</dc:identifier>
  <dcterms:modified xsi:type="dcterms:W3CDTF">2011-08-01T06:04:30Z</dcterms:modified>
  <cp:revision>1</cp:revision>
  <dc:title>Iteration 2.6</dc:title>
</cp:coreProperties>
</file>