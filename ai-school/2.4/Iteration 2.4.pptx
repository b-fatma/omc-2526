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JetBrains Mono" charset="1" panose="02010509020102050004"/>
      <p:regular r:id="rId38"/>
    </p:embeddedFont>
    <p:embeddedFont>
      <p:font typeface="Kaushan Script" charset="1" panose="03060602040705080205"/>
      <p:regular r:id="rId39"/>
    </p:embeddedFont>
    <p:embeddedFont>
      <p:font typeface="JetBrains Mono Bold" charset="1" panose="02010809030102050004"/>
      <p:regular r:id="rId40"/>
    </p:embeddedFont>
    <p:embeddedFont>
      <p:font typeface="JetBrains Mono Bold Italics" charset="1" panose="02010809030102050004"/>
      <p:regular r:id="rId41"/>
    </p:embeddedFont>
    <p:embeddedFont>
      <p:font typeface="Canva Sans Bold" charset="1" panose="020B0803030501040103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towardsdatascience.com/micro-macro-weighted-averages-of-f1-score-clearly-explained-b603420b292f/" TargetMode="External" Type="http://schemas.openxmlformats.org/officeDocument/2006/relationships/hyperlink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https://towardsdatascience.com/micro-macro-weighted-averages-of-f1-score-clearly-explained-b603420b292f/" TargetMode="External" Type="http://schemas.openxmlformats.org/officeDocument/2006/relationships/hyperlink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scikit-learn.org/stable/api/sklearn.metrics.html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scikit-learn.org/stable/api/sklearn.metrics.html" TargetMode="External" Type="http://schemas.openxmlformats.org/officeDocument/2006/relationships/hyperlink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scikit-learn.org/stable/api/sklearn.metrics.html" TargetMode="External" Type="http://schemas.openxmlformats.org/officeDocument/2006/relationships/hyperlink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3170744" y="375272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16027" y="1462767"/>
            <a:ext cx="13771673" cy="6201585"/>
            <a:chOff x="0" y="0"/>
            <a:chExt cx="3627107" cy="16333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27107" cy="1633339"/>
            </a:xfrm>
            <a:custGeom>
              <a:avLst/>
              <a:gdLst/>
              <a:ahLst/>
              <a:cxnLst/>
              <a:rect r="r" b="b" t="t" l="l"/>
              <a:pathLst>
                <a:path h="1633339" w="3627107">
                  <a:moveTo>
                    <a:pt x="28670" y="0"/>
                  </a:moveTo>
                  <a:lnTo>
                    <a:pt x="3598437" y="0"/>
                  </a:lnTo>
                  <a:cubicBezTo>
                    <a:pt x="3614271" y="0"/>
                    <a:pt x="3627107" y="12836"/>
                    <a:pt x="3627107" y="28670"/>
                  </a:cubicBezTo>
                  <a:lnTo>
                    <a:pt x="3627107" y="1604669"/>
                  </a:lnTo>
                  <a:cubicBezTo>
                    <a:pt x="3627107" y="1612273"/>
                    <a:pt x="3624087" y="1619565"/>
                    <a:pt x="3618710" y="1624942"/>
                  </a:cubicBezTo>
                  <a:cubicBezTo>
                    <a:pt x="3613333" y="1630319"/>
                    <a:pt x="3606041" y="1633339"/>
                    <a:pt x="3598437" y="1633339"/>
                  </a:cubicBezTo>
                  <a:lnTo>
                    <a:pt x="28670" y="1633339"/>
                  </a:lnTo>
                  <a:cubicBezTo>
                    <a:pt x="12836" y="1633339"/>
                    <a:pt x="0" y="1620503"/>
                    <a:pt x="0" y="1604669"/>
                  </a:cubicBezTo>
                  <a:lnTo>
                    <a:pt x="0" y="28670"/>
                  </a:lnTo>
                  <a:cubicBezTo>
                    <a:pt x="0" y="12836"/>
                    <a:pt x="12836" y="0"/>
                    <a:pt x="28670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27107" cy="1671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55322" y="1959801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809491" y="1959801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261799" y="1959801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810257" y="6531115"/>
            <a:ext cx="213757" cy="213757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390678" y="5629912"/>
            <a:ext cx="6240712" cy="3043916"/>
            <a:chOff x="0" y="0"/>
            <a:chExt cx="3173713" cy="15479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3713" cy="1547983"/>
            </a:xfrm>
            <a:custGeom>
              <a:avLst/>
              <a:gdLst/>
              <a:ahLst/>
              <a:cxnLst/>
              <a:rect r="r" b="b" t="t" l="l"/>
              <a:pathLst>
                <a:path h="1547983" w="3173713">
                  <a:moveTo>
                    <a:pt x="21089" y="0"/>
                  </a:moveTo>
                  <a:lnTo>
                    <a:pt x="3152623" y="0"/>
                  </a:lnTo>
                  <a:cubicBezTo>
                    <a:pt x="3158217" y="0"/>
                    <a:pt x="3163581" y="2222"/>
                    <a:pt x="3167536" y="6177"/>
                  </a:cubicBezTo>
                  <a:cubicBezTo>
                    <a:pt x="3171491" y="10132"/>
                    <a:pt x="3173713" y="15496"/>
                    <a:pt x="3173713" y="21089"/>
                  </a:cubicBezTo>
                  <a:lnTo>
                    <a:pt x="3173713" y="1526894"/>
                  </a:lnTo>
                  <a:cubicBezTo>
                    <a:pt x="3173713" y="1532487"/>
                    <a:pt x="3171491" y="1537851"/>
                    <a:pt x="3167536" y="1541806"/>
                  </a:cubicBezTo>
                  <a:cubicBezTo>
                    <a:pt x="3163581" y="1545761"/>
                    <a:pt x="3158217" y="1547983"/>
                    <a:pt x="3152623" y="1547983"/>
                  </a:cubicBezTo>
                  <a:lnTo>
                    <a:pt x="21089" y="1547983"/>
                  </a:lnTo>
                  <a:cubicBezTo>
                    <a:pt x="15496" y="1547983"/>
                    <a:pt x="10132" y="1545761"/>
                    <a:pt x="6177" y="1541806"/>
                  </a:cubicBezTo>
                  <a:cubicBezTo>
                    <a:pt x="2222" y="1537851"/>
                    <a:pt x="0" y="1532487"/>
                    <a:pt x="0" y="1526894"/>
                  </a:cubicBezTo>
                  <a:lnTo>
                    <a:pt x="0" y="21089"/>
                  </a:lnTo>
                  <a:cubicBezTo>
                    <a:pt x="0" y="15496"/>
                    <a:pt x="2222" y="10132"/>
                    <a:pt x="6177" y="6177"/>
                  </a:cubicBezTo>
                  <a:cubicBezTo>
                    <a:pt x="10132" y="2222"/>
                    <a:pt x="15496" y="0"/>
                    <a:pt x="21089" y="0"/>
                  </a:cubicBezTo>
                  <a:close/>
                </a:path>
              </a:pathLst>
            </a:custGeom>
            <a:solidFill>
              <a:srgbClr val="20242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73713" cy="1586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715710" y="5929565"/>
            <a:ext cx="179985" cy="179985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50920" y="5929565"/>
            <a:ext cx="179985" cy="179985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185168" y="5929565"/>
            <a:ext cx="179985" cy="179985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631390" y="-124893"/>
            <a:ext cx="2401212" cy="4169388"/>
            <a:chOff x="0" y="0"/>
            <a:chExt cx="632418" cy="10981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2418" cy="1098110"/>
            </a:xfrm>
            <a:custGeom>
              <a:avLst/>
              <a:gdLst/>
              <a:ahLst/>
              <a:cxnLst/>
              <a:rect r="r" b="b" t="t" l="l"/>
              <a:pathLst>
                <a:path h="1098110" w="632418">
                  <a:moveTo>
                    <a:pt x="99949" y="0"/>
                  </a:moveTo>
                  <a:lnTo>
                    <a:pt x="532469" y="0"/>
                  </a:lnTo>
                  <a:cubicBezTo>
                    <a:pt x="587669" y="0"/>
                    <a:pt x="632418" y="44749"/>
                    <a:pt x="632418" y="99949"/>
                  </a:cubicBezTo>
                  <a:lnTo>
                    <a:pt x="632418" y="998161"/>
                  </a:lnTo>
                  <a:cubicBezTo>
                    <a:pt x="632418" y="1053361"/>
                    <a:pt x="587669" y="1098110"/>
                    <a:pt x="532469" y="1098110"/>
                  </a:cubicBezTo>
                  <a:lnTo>
                    <a:pt x="99949" y="1098110"/>
                  </a:lnTo>
                  <a:cubicBezTo>
                    <a:pt x="44749" y="1098110"/>
                    <a:pt x="0" y="1053361"/>
                    <a:pt x="0" y="998161"/>
                  </a:cubicBezTo>
                  <a:lnTo>
                    <a:pt x="0" y="99949"/>
                  </a:lnTo>
                  <a:cubicBezTo>
                    <a:pt x="0" y="44749"/>
                    <a:pt x="44749" y="0"/>
                    <a:pt x="99949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32418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-5400000">
            <a:off x="16995547" y="2823093"/>
            <a:ext cx="988012" cy="871247"/>
          </a:xfrm>
          <a:custGeom>
            <a:avLst/>
            <a:gdLst/>
            <a:ahLst/>
            <a:cxnLst/>
            <a:rect r="r" b="b" t="t" l="l"/>
            <a:pathLst>
              <a:path h="871247" w="988012">
                <a:moveTo>
                  <a:pt x="0" y="0"/>
                </a:moveTo>
                <a:lnTo>
                  <a:pt x="988011" y="0"/>
                </a:lnTo>
                <a:lnTo>
                  <a:pt x="988011" y="871247"/>
                </a:lnTo>
                <a:lnTo>
                  <a:pt x="0" y="8712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458731" y="3867150"/>
            <a:ext cx="12320897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Classification Metrics</a:t>
            </a:r>
          </a:p>
        </p:txBody>
      </p:sp>
      <p:sp>
        <p:nvSpPr>
          <p:cNvPr name="AutoShape 32" id="32"/>
          <p:cNvSpPr/>
          <p:nvPr/>
        </p:nvSpPr>
        <p:spPr>
          <a:xfrm flipV="true">
            <a:off x="14836777" y="3720248"/>
            <a:ext cx="0" cy="1653973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7844839" y="7959139"/>
            <a:ext cx="2598322" cy="2598322"/>
          </a:xfrm>
          <a:custGeom>
            <a:avLst/>
            <a:gdLst/>
            <a:ahLst/>
            <a:cxnLst/>
            <a:rect r="r" b="b" t="t" l="l"/>
            <a:pathLst>
              <a:path h="2598322" w="2598322">
                <a:moveTo>
                  <a:pt x="0" y="0"/>
                </a:moveTo>
                <a:lnTo>
                  <a:pt x="2598322" y="0"/>
                </a:lnTo>
                <a:lnTo>
                  <a:pt x="2598322" y="2598322"/>
                </a:lnTo>
                <a:lnTo>
                  <a:pt x="0" y="2598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-5400000">
            <a:off x="16463330" y="1468654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65365" y="2918674"/>
            <a:ext cx="63093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School Iteration 2.4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711916" y="6776585"/>
            <a:ext cx="5543619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By BOULGHERAIF Fatma Zohra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711916" y="6795635"/>
            <a:ext cx="83798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&lt;h4&gt;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024014" y="7396980"/>
            <a:ext cx="83798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&lt;/h4&gt;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55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Recap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8917018" cy="891769"/>
            <a:chOff x="0" y="0"/>
            <a:chExt cx="2348515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48515" cy="234869"/>
            </a:xfrm>
            <a:custGeom>
              <a:avLst/>
              <a:gdLst/>
              <a:ahLst/>
              <a:cxnLst/>
              <a:rect r="r" b="b" t="t" l="l"/>
              <a:pathLst>
                <a:path h="234869" w="2348515">
                  <a:moveTo>
                    <a:pt x="0" y="0"/>
                  </a:moveTo>
                  <a:lnTo>
                    <a:pt x="2348515" y="0"/>
                  </a:lnTo>
                  <a:lnTo>
                    <a:pt x="2348515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348515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0817363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4198942" y="4930379"/>
          <a:ext cx="9890115" cy="3095625"/>
        </p:xfrm>
        <a:graphic>
          <a:graphicData uri="http://schemas.openxmlformats.org/drawingml/2006/table">
            <a:tbl>
              <a:tblPr/>
              <a:tblGrid>
                <a:gridCol w="2587132"/>
                <a:gridCol w="3730111"/>
                <a:gridCol w="3572872"/>
              </a:tblGrid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Output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Example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Used for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Probability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P(y=1 | x) = 0.73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Label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ŷ =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Decision trees, kNN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2006980" y="2516219"/>
            <a:ext cx="85039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01. What Classification Outputs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3996869"/>
            <a:ext cx="10534650" cy="154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👉 Two kinds of output depending on the model: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00345" y="8597504"/>
            <a:ext cx="10144356" cy="87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6"/>
              </a:lnSpc>
              <a:spcBef>
                <a:spcPct val="0"/>
              </a:spcBef>
            </a:pPr>
            <a:r>
              <a:rPr lang="en-US" b="true" sz="1661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When you have probabilities, a threshold converts them to a label:</a:t>
            </a:r>
          </a:p>
          <a:p>
            <a:pPr algn="l">
              <a:lnSpc>
                <a:spcPts val="2326"/>
              </a:lnSpc>
              <a:spcBef>
                <a:spcPct val="0"/>
              </a:spcBef>
            </a:pPr>
            <a:r>
              <a:rPr lang="en-US" b="true" sz="1661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ŷ = 1   if P(y=1 | x) ≥ threshold</a:t>
            </a:r>
          </a:p>
          <a:p>
            <a:pPr algn="l">
              <a:lnSpc>
                <a:spcPts val="2326"/>
              </a:lnSpc>
              <a:spcBef>
                <a:spcPct val="0"/>
              </a:spcBef>
            </a:pPr>
            <a:r>
              <a:rPr lang="en-US" b="true" sz="1661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ŷ = 0   otherwise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55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Metrics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550389" cy="891769"/>
            <a:chOff x="0" y="0"/>
            <a:chExt cx="2515329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5329" cy="234869"/>
            </a:xfrm>
            <a:custGeom>
              <a:avLst/>
              <a:gdLst/>
              <a:ahLst/>
              <a:cxnLst/>
              <a:rect r="r" b="b" t="t" l="l"/>
              <a:pathLst>
                <a:path h="234869" w="2515329">
                  <a:moveTo>
                    <a:pt x="0" y="0"/>
                  </a:moveTo>
                  <a:lnTo>
                    <a:pt x="2515329" y="0"/>
                  </a:lnTo>
                  <a:lnTo>
                    <a:pt x="2515329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15329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32918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Accuracy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11450734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00345" y="4006394"/>
            <a:ext cx="13965829" cy="578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Proportion of correctly classified samples over the total number of samples.</a:t>
            </a:r>
          </a:p>
          <a:p>
            <a:pPr algn="l">
              <a:lnSpc>
                <a:spcPts val="4199"/>
              </a:lnSpc>
            </a:pP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Accuracy = # Correct predictions / # Total predictions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E52C21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Limitation — class imbalance: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Consider a dataset where </a:t>
            </a:r>
            <a:r>
              <a:rPr lang="en-US" sz="2400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99% of samples belong to class 0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 A classifier that </a:t>
            </a:r>
            <a:r>
              <a:rPr lang="en-US" sz="2400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always predicts class 0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achieves </a:t>
            </a:r>
            <a:r>
              <a:rPr lang="en-US" sz="2400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99% accuracy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while never detecting class 1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Accuracy is an insufficient metric when: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Class distributions are </a:t>
            </a:r>
            <a:r>
              <a:rPr lang="en-US" b="true" sz="24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imbalanced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The </a:t>
            </a:r>
            <a:r>
              <a:rPr lang="en-US" b="true" sz="24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cost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of false positives and false negatives differs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497625" cy="891769"/>
            <a:chOff x="0" y="0"/>
            <a:chExt cx="1711309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11309" cy="234869"/>
            </a:xfrm>
            <a:custGeom>
              <a:avLst/>
              <a:gdLst/>
              <a:ahLst/>
              <a:cxnLst/>
              <a:rect r="r" b="b" t="t" l="l"/>
              <a:pathLst>
                <a:path h="234869" w="1711309">
                  <a:moveTo>
                    <a:pt x="0" y="0"/>
                  </a:moveTo>
                  <a:lnTo>
                    <a:pt x="1711309" y="0"/>
                  </a:lnTo>
                  <a:lnTo>
                    <a:pt x="1711309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11309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397970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5486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Confusion Matrix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06980" y="4097971"/>
            <a:ext cx="14057391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For binary classification, every prediction falls into one of four categories: FP, TP, FN, TN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Definitions: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</a:t>
            </a:r>
            <a:r>
              <a:rPr lang="en-US" b="true" sz="21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TP</a:t>
            </a: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: positive sample correctly classified as positive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</a:t>
            </a:r>
            <a:r>
              <a:rPr lang="en-US" b="true" sz="21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TN</a:t>
            </a: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: negative sample correctly classified as negative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</a:t>
            </a:r>
            <a:r>
              <a:rPr lang="en-US" b="true" sz="2100">
                <a:solidFill>
                  <a:srgbClr val="E52C21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FP</a:t>
            </a: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: negative sample incorrectly classified as positive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</a:t>
            </a:r>
            <a:r>
              <a:rPr lang="en-US" b="true" sz="2100">
                <a:solidFill>
                  <a:srgbClr val="E52C21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FN</a:t>
            </a: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: positive sample incorrectly classified as negative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 =&gt; incorrectly classified as P or N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 =&gt; correctly classified as P or N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497625" cy="891769"/>
            <a:chOff x="0" y="0"/>
            <a:chExt cx="1711309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11309" cy="234869"/>
            </a:xfrm>
            <a:custGeom>
              <a:avLst/>
              <a:gdLst/>
              <a:ahLst/>
              <a:cxnLst/>
              <a:rect r="r" b="b" t="t" l="l"/>
              <a:pathLst>
                <a:path h="234869" w="1711309">
                  <a:moveTo>
                    <a:pt x="0" y="0"/>
                  </a:moveTo>
                  <a:lnTo>
                    <a:pt x="1711309" y="0"/>
                  </a:lnTo>
                  <a:lnTo>
                    <a:pt x="1711309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11309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397970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633055" y="3777894"/>
            <a:ext cx="6610500" cy="5511504"/>
          </a:xfrm>
          <a:custGeom>
            <a:avLst/>
            <a:gdLst/>
            <a:ahLst/>
            <a:cxnLst/>
            <a:rect r="r" b="b" t="t" l="l"/>
            <a:pathLst>
              <a:path h="5511504" w="6610500">
                <a:moveTo>
                  <a:pt x="0" y="0"/>
                </a:moveTo>
                <a:lnTo>
                  <a:pt x="6610500" y="0"/>
                </a:lnTo>
                <a:lnTo>
                  <a:pt x="6610500" y="5511504"/>
                </a:lnTo>
                <a:lnTo>
                  <a:pt x="0" y="55115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5486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Confusion Matrix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16129" y="3739794"/>
            <a:ext cx="5695206" cy="4323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  <a:spcBef>
                <a:spcPct val="0"/>
              </a:spcBef>
            </a:pPr>
          </a:p>
          <a:p>
            <a:pPr algn="l">
              <a:lnSpc>
                <a:spcPts val="2675"/>
              </a:lnSpc>
              <a:spcBef>
                <a:spcPct val="0"/>
              </a:spcBef>
            </a:pPr>
            <a:r>
              <a:rPr lang="en-US" b="true" sz="1911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The relative cost of FP vs. FN is </a:t>
            </a:r>
            <a:r>
              <a:rPr lang="en-US" b="true" sz="1911" u="sng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problem-dependent</a:t>
            </a:r>
            <a:r>
              <a:rPr lang="en-US" b="true" sz="1911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and should be defined before model selection.</a:t>
            </a:r>
          </a:p>
          <a:p>
            <a:pPr algn="l">
              <a:lnSpc>
                <a:spcPts val="2675"/>
              </a:lnSpc>
              <a:spcBef>
                <a:spcPct val="0"/>
              </a:spcBef>
            </a:pPr>
          </a:p>
          <a:p>
            <a:pPr algn="l">
              <a:lnSpc>
                <a:spcPts val="2675"/>
              </a:lnSpc>
              <a:spcBef>
                <a:spcPct val="0"/>
              </a:spcBef>
            </a:pPr>
            <a:r>
              <a:rPr lang="en-US" b="true" sz="1911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Examples:</a:t>
            </a:r>
          </a:p>
          <a:p>
            <a:pPr algn="l">
              <a:lnSpc>
                <a:spcPts val="2675"/>
              </a:lnSpc>
              <a:spcBef>
                <a:spcPct val="0"/>
              </a:spcBef>
            </a:pPr>
            <a:r>
              <a:rPr lang="en-US" b="true" sz="1911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Medical diagnosis: FN (missed disease) is typically more costly than FP</a:t>
            </a:r>
          </a:p>
          <a:p>
            <a:pPr algn="l">
              <a:lnSpc>
                <a:spcPts val="2675"/>
              </a:lnSpc>
              <a:spcBef>
                <a:spcPct val="0"/>
              </a:spcBef>
            </a:pPr>
            <a:r>
              <a:rPr lang="en-US" b="true" sz="1911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Spam filtering: FP (legitimate email classified as spam) may be more costly than FN</a:t>
            </a:r>
          </a:p>
          <a:p>
            <a:pPr algn="l">
              <a:lnSpc>
                <a:spcPts val="267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550389" cy="891769"/>
            <a:chOff x="0" y="0"/>
            <a:chExt cx="2515329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5329" cy="234869"/>
            </a:xfrm>
            <a:custGeom>
              <a:avLst/>
              <a:gdLst/>
              <a:ahLst/>
              <a:cxnLst/>
              <a:rect r="r" b="b" t="t" l="l"/>
              <a:pathLst>
                <a:path h="234869" w="2515329">
                  <a:moveTo>
                    <a:pt x="0" y="0"/>
                  </a:moveTo>
                  <a:lnTo>
                    <a:pt x="2515329" y="0"/>
                  </a:lnTo>
                  <a:lnTo>
                    <a:pt x="2515329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15329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32918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trike="sngStrike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Accuracy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11450734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00345" y="3996869"/>
            <a:ext cx="13965829" cy="153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Accuracy = (TP + TN) / (TP + TN + FP + FN)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614650" cy="891769"/>
            <a:chOff x="0" y="0"/>
            <a:chExt cx="1742130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42130" cy="234869"/>
            </a:xfrm>
            <a:custGeom>
              <a:avLst/>
              <a:gdLst/>
              <a:ahLst/>
              <a:cxnLst/>
              <a:rect r="r" b="b" t="t" l="l"/>
              <a:pathLst>
                <a:path h="234869" w="1742130">
                  <a:moveTo>
                    <a:pt x="0" y="0"/>
                  </a:moveTo>
                  <a:lnTo>
                    <a:pt x="1742130" y="0"/>
                  </a:lnTo>
                  <a:lnTo>
                    <a:pt x="174213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42130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572145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60350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 Precision &amp; Recall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3923314"/>
            <a:ext cx="12752483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Precision: </a:t>
            </a: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Proportion of positive predictions that are correct. Quantifies the false alarm rate.</a:t>
            </a:r>
          </a:p>
          <a:p>
            <a:pPr algn="l">
              <a:lnSpc>
                <a:spcPts val="2940"/>
              </a:lnSpc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</a:t>
            </a:r>
            <a:r>
              <a:rPr lang="en-US" b="true" sz="21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recision (P) = TP / (TP + FP)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i="true">
                <a:solidFill>
                  <a:srgbClr val="FEFEFE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AKA TP / Prediction = 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345" y="6662636"/>
            <a:ext cx="12752483" cy="258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Recall (True Positive Rate / Sensitivity): </a:t>
            </a: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Proportion of actual positives that were correctly detected. Quantifies the missed detection rate.</a:t>
            </a:r>
          </a:p>
          <a:p>
            <a:pPr algn="l">
              <a:lnSpc>
                <a:spcPts val="2940"/>
              </a:lnSpc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Recall (R) = </a:t>
            </a:r>
            <a:r>
              <a:rPr lang="en-US" b="true" sz="21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TP / (TP + FN)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i="true">
                <a:solidFill>
                  <a:srgbClr val="FEFEFE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AKA TP / Real = 1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9473753" y="265654"/>
            <a:ext cx="7171341" cy="3388294"/>
          </a:xfrm>
          <a:custGeom>
            <a:avLst/>
            <a:gdLst/>
            <a:ahLst/>
            <a:cxnLst/>
            <a:rect r="r" b="b" t="t" l="l"/>
            <a:pathLst>
              <a:path h="3388294" w="7171341">
                <a:moveTo>
                  <a:pt x="0" y="0"/>
                </a:moveTo>
                <a:lnTo>
                  <a:pt x="7171341" y="0"/>
                </a:lnTo>
                <a:lnTo>
                  <a:pt x="7171341" y="3388294"/>
                </a:lnTo>
                <a:lnTo>
                  <a:pt x="0" y="33882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335056" cy="891769"/>
            <a:chOff x="0" y="0"/>
            <a:chExt cx="1668492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68492" cy="234869"/>
            </a:xfrm>
            <a:custGeom>
              <a:avLst/>
              <a:gdLst/>
              <a:ahLst/>
              <a:cxnLst/>
              <a:rect r="r" b="b" t="t" l="l"/>
              <a:pathLst>
                <a:path h="234869" w="1668492">
                  <a:moveTo>
                    <a:pt x="0" y="0"/>
                  </a:moveTo>
                  <a:lnTo>
                    <a:pt x="1668492" y="0"/>
                  </a:lnTo>
                  <a:lnTo>
                    <a:pt x="1668492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668492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235401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205446" y="849164"/>
            <a:ext cx="5405889" cy="4014194"/>
          </a:xfrm>
          <a:custGeom>
            <a:avLst/>
            <a:gdLst/>
            <a:ahLst/>
            <a:cxnLst/>
            <a:rect r="r" b="b" t="t" l="l"/>
            <a:pathLst>
              <a:path h="4014194" w="5405889">
                <a:moveTo>
                  <a:pt x="0" y="0"/>
                </a:moveTo>
                <a:lnTo>
                  <a:pt x="5405889" y="0"/>
                </a:lnTo>
                <a:lnTo>
                  <a:pt x="5405889" y="4014195"/>
                </a:lnTo>
                <a:lnTo>
                  <a:pt x="0" y="4014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60350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 Precision &amp; Recall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345" y="4085945"/>
            <a:ext cx="8675775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The trade-off in the case of probability based classification: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Pushing the threshold </a:t>
            </a:r>
            <a:r>
              <a:rPr lang="en-US" b="true" sz="21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down</a:t>
            </a: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(more aggressive):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↑ Recall — you catch more positives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↓ Precision — but you also flag more negatives wrongly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Pushing the threshold </a:t>
            </a:r>
            <a:r>
              <a:rPr lang="en-US" b="true" sz="21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up</a:t>
            </a: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(more conservative):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↑ Precision — everything you flag is likely real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↓ Recall — but you miss more actual positives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1288915" y="5005353"/>
            <a:ext cx="5238951" cy="4011480"/>
          </a:xfrm>
          <a:custGeom>
            <a:avLst/>
            <a:gdLst/>
            <a:ahLst/>
            <a:cxnLst/>
            <a:rect r="r" b="b" t="t" l="l"/>
            <a:pathLst>
              <a:path h="4011480" w="5238951">
                <a:moveTo>
                  <a:pt x="0" y="0"/>
                </a:moveTo>
                <a:lnTo>
                  <a:pt x="5238951" y="0"/>
                </a:lnTo>
                <a:lnTo>
                  <a:pt x="5238951" y="4011479"/>
                </a:lnTo>
                <a:lnTo>
                  <a:pt x="0" y="40114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614650" cy="891769"/>
            <a:chOff x="0" y="0"/>
            <a:chExt cx="1742130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42130" cy="234869"/>
            </a:xfrm>
            <a:custGeom>
              <a:avLst/>
              <a:gdLst/>
              <a:ahLst/>
              <a:cxnLst/>
              <a:rect r="r" b="b" t="t" l="l"/>
              <a:pathLst>
                <a:path h="234869" w="1742130">
                  <a:moveTo>
                    <a:pt x="0" y="0"/>
                  </a:moveTo>
                  <a:lnTo>
                    <a:pt x="1742130" y="0"/>
                  </a:lnTo>
                  <a:lnTo>
                    <a:pt x="174213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42130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572145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32918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05. F1 Score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4711262"/>
            <a:ext cx="14582554" cy="369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F1 is</a:t>
            </a:r>
            <a:r>
              <a:rPr lang="en-US" sz="2100" b="true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the harmonic mean </a:t>
            </a:r>
            <a:r>
              <a:rPr lang="en-US" sz="2100" b="true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of precision and recall: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F1 = 2 · (</a:t>
            </a:r>
            <a:r>
              <a:rPr lang="en-US" b="true" sz="21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</a:t>
            </a:r>
            <a:r>
              <a:rPr lang="en-US" b="true" sz="21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recision · Recall) / (Precision + Recall)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The harmonic mean is used rather than the arithmetic mean because it returns 0 when either component is 0. A degenerate classifier predicting all samples as positive achieves Recall = 1 but Precision ≈ 0, yielding F1 ≈ 0.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614650" cy="891769"/>
            <a:chOff x="0" y="0"/>
            <a:chExt cx="1742130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42130" cy="234869"/>
            </a:xfrm>
            <a:custGeom>
              <a:avLst/>
              <a:gdLst/>
              <a:ahLst/>
              <a:cxnLst/>
              <a:rect r="r" b="b" t="t" l="l"/>
              <a:pathLst>
                <a:path h="234869" w="1742130">
                  <a:moveTo>
                    <a:pt x="0" y="0"/>
                  </a:moveTo>
                  <a:lnTo>
                    <a:pt x="1742130" y="0"/>
                  </a:lnTo>
                  <a:lnTo>
                    <a:pt x="174213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42130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572145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2717627" y="5963453"/>
          <a:ext cx="13161260" cy="3294847"/>
        </p:xfrm>
        <a:graphic>
          <a:graphicData uri="http://schemas.openxmlformats.org/drawingml/2006/table">
            <a:tbl>
              <a:tblPr/>
              <a:tblGrid>
                <a:gridCol w="1628611"/>
                <a:gridCol w="11532649"/>
              </a:tblGrid>
              <a:tr h="8094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beta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weighting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8094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β &lt;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Precision-weighted: penalises FP more heavily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4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β =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Standard F1: equal weighting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64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β &gt;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Recall-weighted: penalises FN more heavily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2006980" y="2516219"/>
            <a:ext cx="331930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05. Fβ Score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06980" y="4240222"/>
            <a:ext cx="14582554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F-beta score:</a:t>
            </a:r>
            <a:r>
              <a:rPr lang="en-US" sz="2100" b="true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generalisation allowing asymmetric weighting:</a:t>
            </a:r>
          </a:p>
          <a:p>
            <a:pPr algn="l">
              <a:lnSpc>
                <a:spcPts val="2940"/>
              </a:lnSpc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Fβ = (1 + β²) · (</a:t>
            </a:r>
            <a:r>
              <a:rPr lang="en-US" b="true" sz="21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</a:t>
            </a:r>
            <a:r>
              <a:rPr lang="en-US" b="true" sz="21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recision · Recall) / (β² · Precision + Recall)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9473753" y="265654"/>
            <a:ext cx="7171341" cy="3388294"/>
          </a:xfrm>
          <a:custGeom>
            <a:avLst/>
            <a:gdLst/>
            <a:ahLst/>
            <a:cxnLst/>
            <a:rect r="r" b="b" t="t" l="l"/>
            <a:pathLst>
              <a:path h="3388294" w="7171341">
                <a:moveTo>
                  <a:pt x="0" y="0"/>
                </a:moveTo>
                <a:lnTo>
                  <a:pt x="7171341" y="0"/>
                </a:lnTo>
                <a:lnTo>
                  <a:pt x="7171341" y="3388294"/>
                </a:lnTo>
                <a:lnTo>
                  <a:pt x="0" y="33882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614650" cy="891769"/>
            <a:chOff x="0" y="0"/>
            <a:chExt cx="1742130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42130" cy="234869"/>
            </a:xfrm>
            <a:custGeom>
              <a:avLst/>
              <a:gdLst/>
              <a:ahLst/>
              <a:cxnLst/>
              <a:rect r="r" b="b" t="t" l="l"/>
              <a:pathLst>
                <a:path h="234869" w="1742130">
                  <a:moveTo>
                    <a:pt x="0" y="0"/>
                  </a:moveTo>
                  <a:lnTo>
                    <a:pt x="1742130" y="0"/>
                  </a:lnTo>
                  <a:lnTo>
                    <a:pt x="174213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42130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572145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35661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Practice Time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594560" y="3746796"/>
            <a:ext cx="6610500" cy="5511504"/>
          </a:xfrm>
          <a:custGeom>
            <a:avLst/>
            <a:gdLst/>
            <a:ahLst/>
            <a:cxnLst/>
            <a:rect r="r" b="b" t="t" l="l"/>
            <a:pathLst>
              <a:path h="5511504" w="6610500">
                <a:moveTo>
                  <a:pt x="0" y="0"/>
                </a:moveTo>
                <a:lnTo>
                  <a:pt x="6610500" y="0"/>
                </a:lnTo>
                <a:lnTo>
                  <a:pt x="6610500" y="5511504"/>
                </a:lnTo>
                <a:lnTo>
                  <a:pt x="0" y="55115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147656" y="5105400"/>
            <a:ext cx="2791589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Accuracy?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Precision?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Recall?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F1 Score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1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Visual Evaluation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7068073" cy="891769"/>
            <a:chOff x="0" y="0"/>
            <a:chExt cx="1861550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61550" cy="234869"/>
            </a:xfrm>
            <a:custGeom>
              <a:avLst/>
              <a:gdLst/>
              <a:ahLst/>
              <a:cxnLst/>
              <a:rect r="r" b="b" t="t" l="l"/>
              <a:pathLst>
                <a:path h="234869" w="1861550">
                  <a:moveTo>
                    <a:pt x="0" y="0"/>
                  </a:moveTo>
                  <a:lnTo>
                    <a:pt x="1861550" y="0"/>
                  </a:lnTo>
                  <a:lnTo>
                    <a:pt x="186155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861550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922130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673268" y="3032742"/>
            <a:ext cx="6679132" cy="5979605"/>
          </a:xfrm>
          <a:custGeom>
            <a:avLst/>
            <a:gdLst/>
            <a:ahLst/>
            <a:cxnLst/>
            <a:rect r="r" b="b" t="t" l="l"/>
            <a:pathLst>
              <a:path h="5979605" w="6679132">
                <a:moveTo>
                  <a:pt x="0" y="0"/>
                </a:moveTo>
                <a:lnTo>
                  <a:pt x="6679132" y="0"/>
                </a:lnTo>
                <a:lnTo>
                  <a:pt x="6679132" y="5979606"/>
                </a:lnTo>
                <a:lnTo>
                  <a:pt x="0" y="59796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68580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06. ROC Curve &amp; AUC (1/2)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345" y="3996869"/>
            <a:ext cx="7163578" cy="4803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  <a:spcBef>
                <a:spcPct val="0"/>
              </a:spcBef>
            </a:pPr>
            <a:r>
              <a:rPr lang="en-US" b="true" sz="2502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Rather than evaluating at a </a:t>
            </a:r>
            <a:r>
              <a:rPr lang="en-US" b="true" sz="2502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single threshold, the ROC curve characterises classifier performance across all thresholds τ ∈ [0, 1].</a:t>
            </a:r>
          </a:p>
          <a:p>
            <a:pPr algn="l">
              <a:lnSpc>
                <a:spcPts val="3503"/>
              </a:lnSpc>
              <a:spcBef>
                <a:spcPct val="0"/>
              </a:spcBef>
            </a:pPr>
          </a:p>
          <a:p>
            <a:pPr algn="l">
              <a:lnSpc>
                <a:spcPts val="3503"/>
              </a:lnSpc>
              <a:spcBef>
                <a:spcPct val="0"/>
              </a:spcBef>
            </a:pPr>
            <a:r>
              <a:rPr lang="en-US" b="true" sz="2502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+ Threshold-independent: evaluates the model's ability to rank positive samples above negative ones</a:t>
            </a:r>
          </a:p>
          <a:p>
            <a:pPr algn="l">
              <a:lnSpc>
                <a:spcPts val="3503"/>
              </a:lnSpc>
              <a:spcBef>
                <a:spcPct val="0"/>
              </a:spcBef>
            </a:pPr>
          </a:p>
          <a:p>
            <a:pPr algn="l">
              <a:lnSpc>
                <a:spcPts val="3503"/>
              </a:lnSpc>
              <a:spcBef>
                <a:spcPct val="0"/>
              </a:spcBef>
            </a:pPr>
            <a:r>
              <a:rPr lang="en-US" b="true" sz="2502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x-axis: </a:t>
            </a:r>
            <a:r>
              <a:rPr lang="en-US" b="true" sz="2502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FPR</a:t>
            </a:r>
            <a:r>
              <a:rPr lang="en-US" b="true" sz="2502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= FP / (FP + TN)</a:t>
            </a:r>
          </a:p>
          <a:p>
            <a:pPr algn="l">
              <a:lnSpc>
                <a:spcPts val="3503"/>
              </a:lnSpc>
              <a:spcBef>
                <a:spcPct val="0"/>
              </a:spcBef>
            </a:pPr>
            <a:r>
              <a:rPr lang="en-US" b="true" sz="2502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y-axis: </a:t>
            </a:r>
            <a:r>
              <a:rPr lang="en-US" b="true" sz="2502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TPR</a:t>
            </a:r>
            <a:r>
              <a:rPr lang="en-US" b="true" sz="2502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= TP / (TP + FN)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7010923" cy="891769"/>
            <a:chOff x="0" y="0"/>
            <a:chExt cx="1846498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46498" cy="234869"/>
            </a:xfrm>
            <a:custGeom>
              <a:avLst/>
              <a:gdLst/>
              <a:ahLst/>
              <a:cxnLst/>
              <a:rect r="r" b="b" t="t" l="l"/>
              <a:pathLst>
                <a:path h="234869" w="1846498">
                  <a:moveTo>
                    <a:pt x="0" y="0"/>
                  </a:moveTo>
                  <a:lnTo>
                    <a:pt x="1846498" y="0"/>
                  </a:lnTo>
                  <a:lnTo>
                    <a:pt x="1846498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846498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911268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673268" y="3032742"/>
            <a:ext cx="6679132" cy="5979605"/>
          </a:xfrm>
          <a:custGeom>
            <a:avLst/>
            <a:gdLst/>
            <a:ahLst/>
            <a:cxnLst/>
            <a:rect r="r" b="b" t="t" l="l"/>
            <a:pathLst>
              <a:path h="5979605" w="6679132">
                <a:moveTo>
                  <a:pt x="0" y="0"/>
                </a:moveTo>
                <a:lnTo>
                  <a:pt x="6679132" y="0"/>
                </a:lnTo>
                <a:lnTo>
                  <a:pt x="6679132" y="5979606"/>
                </a:lnTo>
                <a:lnTo>
                  <a:pt x="0" y="59796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1900345" y="5336895"/>
          <a:ext cx="7243655" cy="3642883"/>
        </p:xfrm>
        <a:graphic>
          <a:graphicData uri="http://schemas.openxmlformats.org/drawingml/2006/table">
            <a:tbl>
              <a:tblPr/>
              <a:tblGrid>
                <a:gridCol w="1128136"/>
                <a:gridCol w="6115519"/>
              </a:tblGrid>
              <a:tr h="8085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Interpretation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085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Perfect classifier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39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Random</a:t>
                      </a: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classifier, no discriminative power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8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&lt;0.5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Worse than random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7" id="27"/>
          <p:cNvSpPr txBox="true"/>
          <p:nvPr/>
        </p:nvSpPr>
        <p:spPr>
          <a:xfrm rot="0">
            <a:off x="2006980" y="2516219"/>
            <a:ext cx="68580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06. ROC Curve &amp; AUC (2/2)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00345" y="4187502"/>
            <a:ext cx="6297339" cy="860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b="true" sz="2486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AUC (Area U</a:t>
            </a:r>
            <a:r>
              <a:rPr lang="en-US" b="true" sz="2486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nder the ROC Curve</a:t>
            </a:r>
            <a:r>
              <a:rPr lang="en-US" b="true" sz="2486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)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1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Multiclass classification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60992" y="-8877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0662927" cy="891769"/>
            <a:chOff x="0" y="0"/>
            <a:chExt cx="2808343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08343" cy="234869"/>
            </a:xfrm>
            <a:custGeom>
              <a:avLst/>
              <a:gdLst/>
              <a:ahLst/>
              <a:cxnLst/>
              <a:rect r="r" b="b" t="t" l="l"/>
              <a:pathLst>
                <a:path h="234869" w="2808343">
                  <a:moveTo>
                    <a:pt x="0" y="0"/>
                  </a:moveTo>
                  <a:lnTo>
                    <a:pt x="2808343" y="0"/>
                  </a:lnTo>
                  <a:lnTo>
                    <a:pt x="2808343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808343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2563272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 flipV="true">
            <a:off x="2180746" y="4044494"/>
            <a:ext cx="59675" cy="4481806"/>
          </a:xfrm>
          <a:prstGeom prst="line">
            <a:avLst/>
          </a:prstGeom>
          <a:ln cap="flat" w="57150">
            <a:solidFill>
              <a:srgbClr val="E7E5E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5400000">
            <a:off x="15626304" y="6979928"/>
            <a:ext cx="746931" cy="966616"/>
          </a:xfrm>
          <a:custGeom>
            <a:avLst/>
            <a:gdLst/>
            <a:ahLst/>
            <a:cxnLst/>
            <a:rect r="r" b="b" t="t" l="l"/>
            <a:pathLst>
              <a:path h="966616" w="746931">
                <a:moveTo>
                  <a:pt x="0" y="0"/>
                </a:moveTo>
                <a:lnTo>
                  <a:pt x="746930" y="0"/>
                </a:lnTo>
                <a:lnTo>
                  <a:pt x="746930" y="966616"/>
                </a:lnTo>
                <a:lnTo>
                  <a:pt x="0" y="96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006980" y="2516219"/>
            <a:ext cx="79095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Multiclass Classification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33055" y="4085945"/>
            <a:ext cx="14024933" cy="481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Definition:</a:t>
            </a:r>
            <a:r>
              <a:rPr lang="en-US" sz="21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Classification where y ∈ {1, 2, ..., K} for K &gt; 2.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Examples: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Iris species → {Setosa, Versicolor, Virginica}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Image recognition → {C</a:t>
            </a:r>
            <a:r>
              <a:rPr lang="en-US" sz="21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at, Dog, Bird, Fish, Horse, ...}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Clinical staging → {Benign, Stage I, Stage II, Stage III}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</a:t>
            </a:r>
            <a:r>
              <a:rPr lang="en-US" sz="21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ain approaches: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Native multiclass: Model outputs K probabilities simultaneously — </a:t>
            </a:r>
            <a:r>
              <a:rPr lang="en-US" b="true" sz="21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Softmax</a:t>
            </a:r>
            <a:r>
              <a:rPr lang="en-US" sz="21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</a:t>
            </a:r>
            <a:r>
              <a:rPr lang="en-US" sz="21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ome models (like logistic regression or SVMs) handle multiclass by combining multiple binary classifiers (</a:t>
            </a:r>
            <a:r>
              <a:rPr lang="en-US" b="true" sz="21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OvR / OvO</a:t>
            </a:r>
            <a:r>
              <a:rPr lang="en-US" sz="21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</a:t>
            </a:r>
            <a:r>
              <a:rPr lang="en-US" sz="21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any modern models support multiclass directly.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60992" y="-8877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0965774" cy="891769"/>
            <a:chOff x="0" y="0"/>
            <a:chExt cx="2888105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88105" cy="234869"/>
            </a:xfrm>
            <a:custGeom>
              <a:avLst/>
              <a:gdLst/>
              <a:ahLst/>
              <a:cxnLst/>
              <a:rect r="r" b="b" t="t" l="l"/>
              <a:pathLst>
                <a:path h="234869" w="2888105">
                  <a:moveTo>
                    <a:pt x="0" y="0"/>
                  </a:moveTo>
                  <a:lnTo>
                    <a:pt x="2888105" y="0"/>
                  </a:lnTo>
                  <a:lnTo>
                    <a:pt x="2888105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888105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2866119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2180746" y="4044494"/>
            <a:ext cx="0" cy="4495937"/>
          </a:xfrm>
          <a:prstGeom prst="line">
            <a:avLst/>
          </a:prstGeom>
          <a:ln cap="flat" w="57150">
            <a:solidFill>
              <a:srgbClr val="E7E5E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 rot="6462985">
            <a:off x="12558086" y="6226674"/>
            <a:ext cx="4130976" cy="3278679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2006980" y="2516219"/>
            <a:ext cx="106527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Softmax for Multiclass Output (1/3)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459288" y="4006394"/>
            <a:ext cx="14244100" cy="381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K classes, the model computes </a:t>
            </a: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K independent linear scores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(logits), one for each class: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zₖ = β₀ₖ + β₁ₖx₁ + ... + βₙₖxₙ     for k = 1, ..., K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</a:t>
            </a:r>
            <a:r>
              <a:rPr lang="en-US" b="true" sz="21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Softmax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function normalises the logit vector into a </a:t>
            </a:r>
            <a:r>
              <a:rPr lang="en-US" sz="2100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valid probability distribution: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P(y = k | x)  =  exp(zₖ) / Σⱼ exp(zⱼ)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7567741" y="8031255"/>
            <a:ext cx="538734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P(y = k | x) ∈ (0, 1) for all k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Σₖ P(y = k | x) = 1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60992" y="-8877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0965774" cy="891769"/>
            <a:chOff x="0" y="0"/>
            <a:chExt cx="2888105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88105" cy="234869"/>
            </a:xfrm>
            <a:custGeom>
              <a:avLst/>
              <a:gdLst/>
              <a:ahLst/>
              <a:cxnLst/>
              <a:rect r="r" b="b" t="t" l="l"/>
              <a:pathLst>
                <a:path h="234869" w="2888105">
                  <a:moveTo>
                    <a:pt x="0" y="0"/>
                  </a:moveTo>
                  <a:lnTo>
                    <a:pt x="2888105" y="0"/>
                  </a:lnTo>
                  <a:lnTo>
                    <a:pt x="2888105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888105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2866119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2180746" y="4044494"/>
            <a:ext cx="0" cy="4495937"/>
          </a:xfrm>
          <a:prstGeom prst="line">
            <a:avLst/>
          </a:prstGeom>
          <a:ln cap="flat" w="57150">
            <a:solidFill>
              <a:srgbClr val="E7E5E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633055" y="4085831"/>
            <a:ext cx="9390224" cy="2296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  <a:spcBef>
                <a:spcPct val="0"/>
              </a:spcBef>
            </a:pPr>
            <a:r>
              <a:rPr lang="en-US" sz="202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202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redict</a:t>
            </a:r>
            <a:r>
              <a:rPr lang="en-US" sz="202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io</a:t>
            </a:r>
            <a:r>
              <a:rPr lang="en-US" sz="202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n:</a:t>
            </a:r>
          </a:p>
          <a:p>
            <a:pPr algn="l">
              <a:lnSpc>
                <a:spcPts val="2828"/>
              </a:lnSpc>
              <a:spcBef>
                <a:spcPct val="0"/>
              </a:spcBef>
            </a:pPr>
          </a:p>
          <a:p>
            <a:pPr algn="ctr">
              <a:lnSpc>
                <a:spcPts val="4040"/>
              </a:lnSpc>
              <a:spcBef>
                <a:spcPct val="0"/>
              </a:spcBef>
            </a:pPr>
            <a:r>
              <a:rPr lang="en-US" b="true" sz="2885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ŷ = argmax_k P(y = k | x)</a:t>
            </a:r>
          </a:p>
          <a:p>
            <a:pPr algn="l">
              <a:lnSpc>
                <a:spcPts val="2828"/>
              </a:lnSpc>
              <a:spcBef>
                <a:spcPct val="0"/>
              </a:spcBef>
            </a:pPr>
          </a:p>
          <a:p>
            <a:pPr algn="l">
              <a:lnSpc>
                <a:spcPts val="2828"/>
              </a:lnSpc>
              <a:spcBef>
                <a:spcPct val="0"/>
              </a:spcBef>
            </a:pPr>
            <a:r>
              <a:rPr lang="en-US" sz="202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sig</a:t>
            </a:r>
            <a:r>
              <a:rPr lang="en-US" sz="202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</a:t>
            </a:r>
            <a:r>
              <a:rPr lang="en-US" sz="202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oid</a:t>
            </a:r>
            <a:r>
              <a:rPr lang="en-US" sz="202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function is a special c</a:t>
            </a:r>
            <a:r>
              <a:rPr lang="en-US" sz="2020" u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202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</a:t>
            </a:r>
            <a:r>
              <a:rPr lang="en-US" sz="2020" u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</a:t>
            </a:r>
            <a:r>
              <a:rPr lang="en-US" sz="202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</a:t>
            </a:r>
            <a:r>
              <a:rPr lang="en-US" sz="2020" u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02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Sof</a:t>
            </a:r>
            <a:r>
              <a:rPr lang="en-US" sz="2020" u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</a:t>
            </a:r>
            <a:r>
              <a:rPr lang="en-US" sz="202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max w</a:t>
            </a:r>
            <a:r>
              <a:rPr lang="en-US" sz="2020" u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</a:t>
            </a:r>
            <a:r>
              <a:rPr lang="en-US" sz="202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</a:t>
            </a:r>
            <a:r>
              <a:rPr lang="en-US" sz="202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K = 2.</a:t>
            </a:r>
          </a:p>
          <a:p>
            <a:pPr algn="l">
              <a:lnSpc>
                <a:spcPts val="2828"/>
              </a:lnSpc>
              <a:spcBef>
                <a:spcPct val="0"/>
              </a:spcBef>
            </a:pP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5217695" y="6839015"/>
            <a:ext cx="11272849" cy="2137708"/>
          </a:xfrm>
          <a:custGeom>
            <a:avLst/>
            <a:gdLst/>
            <a:ahLst/>
            <a:cxnLst/>
            <a:rect r="r" b="b" t="t" l="l"/>
            <a:pathLst>
              <a:path h="2137708" w="11272849">
                <a:moveTo>
                  <a:pt x="0" y="0"/>
                </a:moveTo>
                <a:lnTo>
                  <a:pt x="11272849" y="0"/>
                </a:lnTo>
                <a:lnTo>
                  <a:pt x="11272849" y="2137709"/>
                </a:lnTo>
                <a:lnTo>
                  <a:pt x="0" y="21377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006980" y="2516219"/>
            <a:ext cx="106527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Softmax for Multiclass Output (2/3)</a:t>
            </a:r>
          </a:p>
        </p:txBody>
      </p:sp>
      <p:sp>
        <p:nvSpPr>
          <p:cNvPr name="TextBox 29" id="29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60992" y="-8877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0965774" cy="891769"/>
            <a:chOff x="0" y="0"/>
            <a:chExt cx="2888105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88105" cy="234869"/>
            </a:xfrm>
            <a:custGeom>
              <a:avLst/>
              <a:gdLst/>
              <a:ahLst/>
              <a:cxnLst/>
              <a:rect r="r" b="b" t="t" l="l"/>
              <a:pathLst>
                <a:path h="234869" w="2888105">
                  <a:moveTo>
                    <a:pt x="0" y="0"/>
                  </a:moveTo>
                  <a:lnTo>
                    <a:pt x="2888105" y="0"/>
                  </a:lnTo>
                  <a:lnTo>
                    <a:pt x="2888105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888105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2866119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106527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Softmax for Multiclass Output (3/3)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2086576" y="4044494"/>
            <a:ext cx="13570374" cy="5174362"/>
          </a:xfrm>
          <a:custGeom>
            <a:avLst/>
            <a:gdLst/>
            <a:ahLst/>
            <a:cxnLst/>
            <a:rect r="r" b="b" t="t" l="l"/>
            <a:pathLst>
              <a:path h="5174362" w="13570374">
                <a:moveTo>
                  <a:pt x="0" y="0"/>
                </a:moveTo>
                <a:lnTo>
                  <a:pt x="13570373" y="0"/>
                </a:lnTo>
                <a:lnTo>
                  <a:pt x="13570373" y="5174363"/>
                </a:lnTo>
                <a:lnTo>
                  <a:pt x="0" y="51743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1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Multiclass evaluation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60992" y="-8877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0662927" cy="891769"/>
            <a:chOff x="0" y="0"/>
            <a:chExt cx="2808343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08343" cy="234869"/>
            </a:xfrm>
            <a:custGeom>
              <a:avLst/>
              <a:gdLst/>
              <a:ahLst/>
              <a:cxnLst/>
              <a:rect r="r" b="b" t="t" l="l"/>
              <a:pathLst>
                <a:path h="234869" w="2808343">
                  <a:moveTo>
                    <a:pt x="0" y="0"/>
                  </a:moveTo>
                  <a:lnTo>
                    <a:pt x="2808343" y="0"/>
                  </a:lnTo>
                  <a:lnTo>
                    <a:pt x="2808343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808343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2563272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426138" y="5700467"/>
            <a:ext cx="5220912" cy="3388039"/>
          </a:xfrm>
          <a:custGeom>
            <a:avLst/>
            <a:gdLst/>
            <a:ahLst/>
            <a:cxnLst/>
            <a:rect r="r" b="b" t="t" l="l"/>
            <a:pathLst>
              <a:path h="3388039" w="5220912">
                <a:moveTo>
                  <a:pt x="0" y="0"/>
                </a:moveTo>
                <a:lnTo>
                  <a:pt x="5220912" y="0"/>
                </a:lnTo>
                <a:lnTo>
                  <a:pt x="5220912" y="3388039"/>
                </a:lnTo>
                <a:lnTo>
                  <a:pt x="0" y="33880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84582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Multiclass Evaluation (1/2)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345" y="4006394"/>
            <a:ext cx="14692832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K×K</a:t>
            </a: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Confusion matrix: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</a:t>
            </a:r>
            <a:r>
              <a:rPr lang="en-US" b="true" sz="21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Diagonal entries:</a:t>
            </a: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correct predictions per class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</a:t>
            </a:r>
            <a:r>
              <a:rPr lang="en-US" b="true" sz="2100">
                <a:solidFill>
                  <a:srgbClr val="E52C21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Off-diagonal entries:</a:t>
            </a: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class confusions (e.g. class i predicted as class j)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60992" y="-8877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0662927" cy="891769"/>
            <a:chOff x="0" y="0"/>
            <a:chExt cx="2808343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08343" cy="234869"/>
            </a:xfrm>
            <a:custGeom>
              <a:avLst/>
              <a:gdLst/>
              <a:ahLst/>
              <a:cxnLst/>
              <a:rect r="r" b="b" t="t" l="l"/>
              <a:pathLst>
                <a:path h="234869" w="2808343">
                  <a:moveTo>
                    <a:pt x="0" y="0"/>
                  </a:moveTo>
                  <a:lnTo>
                    <a:pt x="2808343" y="0"/>
                  </a:lnTo>
                  <a:lnTo>
                    <a:pt x="2808343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808343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2563272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328156" y="5336895"/>
            <a:ext cx="11301259" cy="3319745"/>
          </a:xfrm>
          <a:custGeom>
            <a:avLst/>
            <a:gdLst/>
            <a:ahLst/>
            <a:cxnLst/>
            <a:rect r="r" b="b" t="t" l="l"/>
            <a:pathLst>
              <a:path h="3319745" w="11301259">
                <a:moveTo>
                  <a:pt x="0" y="0"/>
                </a:moveTo>
                <a:lnTo>
                  <a:pt x="11301259" y="0"/>
                </a:lnTo>
                <a:lnTo>
                  <a:pt x="11301259" y="3319745"/>
                </a:lnTo>
                <a:lnTo>
                  <a:pt x="0" y="33197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84582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Multiclass Evaluation (2/2)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345" y="4085945"/>
            <a:ext cx="14692832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Per-class precision, recall, and F1 are computed by treating each class as the positive class under an </a:t>
            </a:r>
            <a:r>
              <a:rPr lang="en-US" b="true" sz="21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OvR</a:t>
            </a: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framing.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60992" y="-8877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>
              <a:hlinkClick r:id="rId4" tooltip="https://towardsdatascience.com/micro-macro-weighted-averages-of-f1-score-clearly-explained-b603420b292f/"/>
            </p:cNvPr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8347665" cy="891769"/>
            <a:chOff x="0" y="0"/>
            <a:chExt cx="2198562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8562" cy="234869"/>
            </a:xfrm>
            <a:custGeom>
              <a:avLst/>
              <a:gdLst/>
              <a:ahLst/>
              <a:cxnLst/>
              <a:rect r="r" b="b" t="t" l="l"/>
              <a:pathLst>
                <a:path h="234869" w="2198562">
                  <a:moveTo>
                    <a:pt x="0" y="0"/>
                  </a:moveTo>
                  <a:lnTo>
                    <a:pt x="2198562" y="0"/>
                  </a:lnTo>
                  <a:lnTo>
                    <a:pt x="2198562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98562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0248010" y="2117471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81838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Averaging Strategies (1/2)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55817" y="3984870"/>
            <a:ext cx="13776367" cy="518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Macro Precision = (1/K) · Σₖ Precisionₖ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Each class contributes equally regardless of sample count. Appropriate when performance on minority classes is as important as on majority classes.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Weighted Precision = Σₖ (supportₖ · Precisionₖ) / N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Each class is weighted by its sample count. Reflects overall performance on the observed distribution. Can mask poor performance on minority classes.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Micro Precision = Σₖ TPₖ / (Σₖ TPₖ + Σₖ FPₖ)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Pools TP/FP/FN counts across all classes before computing the metric.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01525" y="2050796"/>
            <a:ext cx="2034842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 u="sng">
                <a:solidFill>
                  <a:srgbClr val="FFCF6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9" tooltip="https://towardsdatascience.com/micro-macro-weighted-averages-of-f1-score-clearly-explained-b603420b292f/"/>
              </a:rPr>
              <a:t>Example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60992" y="-8877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8489718" cy="891769"/>
            <a:chOff x="0" y="0"/>
            <a:chExt cx="2235975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35975" cy="234869"/>
            </a:xfrm>
            <a:custGeom>
              <a:avLst/>
              <a:gdLst/>
              <a:ahLst/>
              <a:cxnLst/>
              <a:rect r="r" b="b" t="t" l="l"/>
              <a:pathLst>
                <a:path h="234869" w="2235975">
                  <a:moveTo>
                    <a:pt x="0" y="0"/>
                  </a:moveTo>
                  <a:lnTo>
                    <a:pt x="2235975" y="0"/>
                  </a:lnTo>
                  <a:lnTo>
                    <a:pt x="2235975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35975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0390063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484546" y="3718325"/>
            <a:ext cx="12109852" cy="5845039"/>
          </a:xfrm>
          <a:custGeom>
            <a:avLst/>
            <a:gdLst/>
            <a:ahLst/>
            <a:cxnLst/>
            <a:rect r="r" b="b" t="t" l="l"/>
            <a:pathLst>
              <a:path h="5845039" w="12109852">
                <a:moveTo>
                  <a:pt x="0" y="0"/>
                </a:moveTo>
                <a:lnTo>
                  <a:pt x="12109853" y="0"/>
                </a:lnTo>
                <a:lnTo>
                  <a:pt x="12109853" y="5845039"/>
                </a:lnTo>
                <a:lnTo>
                  <a:pt x="0" y="58450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81838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Averaging Strategies (2/2)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1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Practice</a:t>
            </a:r>
          </a:p>
          <a:p>
            <a:pPr algn="l">
              <a:lnSpc>
                <a:spcPts val="4608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>
              <a:hlinkClick r:id="rId4" tooltip="https://scikit-learn.org/stable/api/sklearn.metrics.html"/>
            </p:cNvPr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7300805" cy="891769"/>
            <a:chOff x="0" y="0"/>
            <a:chExt cx="1922846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2846" cy="234869"/>
            </a:xfrm>
            <a:custGeom>
              <a:avLst/>
              <a:gdLst/>
              <a:ahLst/>
              <a:cxnLst/>
              <a:rect r="r" b="b" t="t" l="l"/>
              <a:pathLst>
                <a:path h="234869" w="1922846">
                  <a:moveTo>
                    <a:pt x="0" y="0"/>
                  </a:moveTo>
                  <a:lnTo>
                    <a:pt x="1922846" y="0"/>
                  </a:lnTo>
                  <a:lnTo>
                    <a:pt x="1922846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22846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9201150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>
            <a:hlinkClick r:id="rId10" tooltip="https://scikit-learn.org/stable/api/sklearn.metrics.html"/>
          </p:cNvPr>
          <p:cNvSpPr/>
          <p:nvPr/>
        </p:nvSpPr>
        <p:spPr>
          <a:xfrm flipH="false" flipV="false" rot="0">
            <a:off x="4758441" y="3565770"/>
            <a:ext cx="8288183" cy="5787148"/>
          </a:xfrm>
          <a:custGeom>
            <a:avLst/>
            <a:gdLst/>
            <a:ahLst/>
            <a:cxnLst/>
            <a:rect r="r" b="b" t="t" l="l"/>
            <a:pathLst>
              <a:path h="5787148" w="8288183">
                <a:moveTo>
                  <a:pt x="0" y="0"/>
                </a:moveTo>
                <a:lnTo>
                  <a:pt x="8288183" y="0"/>
                </a:lnTo>
                <a:lnTo>
                  <a:pt x="8288183" y="5787148"/>
                </a:lnTo>
                <a:lnTo>
                  <a:pt x="0" y="57871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70866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sklearn for evaluation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70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Metric Selection</a:t>
            </a:r>
          </a:p>
          <a:p>
            <a:pPr algn="l">
              <a:lnSpc>
                <a:spcPts val="4608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>
              <a:hlinkClick r:id="rId4" tooltip="https://scikit-learn.org/stable/api/sklearn.metrics.html"/>
            </p:cNvPr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7300805" cy="891769"/>
            <a:chOff x="0" y="0"/>
            <a:chExt cx="1922846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2846" cy="234869"/>
            </a:xfrm>
            <a:custGeom>
              <a:avLst/>
              <a:gdLst/>
              <a:ahLst/>
              <a:cxnLst/>
              <a:rect r="r" b="b" t="t" l="l"/>
              <a:pathLst>
                <a:path h="234869" w="1922846">
                  <a:moveTo>
                    <a:pt x="0" y="0"/>
                  </a:moveTo>
                  <a:lnTo>
                    <a:pt x="1922846" y="0"/>
                  </a:lnTo>
                  <a:lnTo>
                    <a:pt x="1922846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22846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9201150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25" id="25"/>
          <p:cNvGraphicFramePr/>
          <p:nvPr/>
        </p:nvGraphicFramePr>
        <p:xfrm>
          <a:off x="1956845" y="3872617"/>
          <a:ext cx="7586157" cy="4274588"/>
        </p:xfrm>
        <a:graphic>
          <a:graphicData uri="http://schemas.openxmlformats.org/presentationml/2006/ole">
            <p:oleObj imgW="9105900" imgH="57912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2006980" y="2516219"/>
            <a:ext cx="54406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Metric Selection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428037" y="3752722"/>
            <a:ext cx="3431927" cy="3431927"/>
          </a:xfrm>
          <a:custGeom>
            <a:avLst/>
            <a:gdLst/>
            <a:ahLst/>
            <a:cxnLst/>
            <a:rect r="r" b="b" t="t" l="l"/>
            <a:pathLst>
              <a:path h="3431927" w="3431927">
                <a:moveTo>
                  <a:pt x="0" y="0"/>
                </a:moveTo>
                <a:lnTo>
                  <a:pt x="3431926" y="0"/>
                </a:lnTo>
                <a:lnTo>
                  <a:pt x="3431926" y="3431927"/>
                </a:lnTo>
                <a:lnTo>
                  <a:pt x="0" y="3431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486648" y="4727612"/>
            <a:ext cx="7314704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Any Questions 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78936" y="-23493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006980" y="4098221"/>
            <a:ext cx="14812572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Thank you for your attention ✨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900345" y="4231571"/>
            <a:ext cx="5056654" cy="1184910"/>
            <a:chOff x="0" y="0"/>
            <a:chExt cx="1331794" cy="3120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1794" cy="312075"/>
            </a:xfrm>
            <a:custGeom>
              <a:avLst/>
              <a:gdLst/>
              <a:ahLst/>
              <a:cxnLst/>
              <a:rect r="r" b="b" t="t" l="l"/>
              <a:pathLst>
                <a:path h="312075" w="1331794">
                  <a:moveTo>
                    <a:pt x="0" y="0"/>
                  </a:moveTo>
                  <a:lnTo>
                    <a:pt x="1331794" y="0"/>
                  </a:lnTo>
                  <a:lnTo>
                    <a:pt x="1331794" y="312075"/>
                  </a:lnTo>
                  <a:lnTo>
                    <a:pt x="0" y="312075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31794" cy="350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H="true" flipV="true">
            <a:off x="7014149" y="3853727"/>
            <a:ext cx="0" cy="1940596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7844839" y="8147301"/>
            <a:ext cx="2598322" cy="2598322"/>
          </a:xfrm>
          <a:custGeom>
            <a:avLst/>
            <a:gdLst/>
            <a:ahLst/>
            <a:cxnLst/>
            <a:rect r="r" b="b" t="t" l="l"/>
            <a:pathLst>
              <a:path h="2598322" w="2598322">
                <a:moveTo>
                  <a:pt x="0" y="0"/>
                </a:moveTo>
                <a:lnTo>
                  <a:pt x="2598322" y="0"/>
                </a:lnTo>
                <a:lnTo>
                  <a:pt x="2598322" y="2598322"/>
                </a:lnTo>
                <a:lnTo>
                  <a:pt x="0" y="2598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DAHHGb9cvp8</dc:identifier>
  <dcterms:modified xsi:type="dcterms:W3CDTF">2011-08-01T06:04:30Z</dcterms:modified>
  <cp:revision>1</cp:revision>
  <dc:title>Iteration 2.4</dc:title>
</cp:coreProperties>
</file>