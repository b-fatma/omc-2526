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JetBrains Mono" charset="1" panose="02010509020102050004"/>
      <p:regular r:id="rId25"/>
    </p:embeddedFont>
    <p:embeddedFont>
      <p:font typeface="Kaushan Script" charset="1" panose="03060602040705080205"/>
      <p:regular r:id="rId26"/>
    </p:embeddedFont>
    <p:embeddedFont>
      <p:font typeface="JetBrains Mono Bold" charset="1" panose="02010809030102050004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170744" y="375272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16027" y="1462767"/>
            <a:ext cx="13771673" cy="6201585"/>
            <a:chOff x="0" y="0"/>
            <a:chExt cx="3627107" cy="163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27107" cy="1633339"/>
            </a:xfrm>
            <a:custGeom>
              <a:avLst/>
              <a:gdLst/>
              <a:ahLst/>
              <a:cxnLst/>
              <a:rect r="r" b="b" t="t" l="l"/>
              <a:pathLst>
                <a:path h="1633339" w="3627107">
                  <a:moveTo>
                    <a:pt x="28670" y="0"/>
                  </a:moveTo>
                  <a:lnTo>
                    <a:pt x="3598437" y="0"/>
                  </a:lnTo>
                  <a:cubicBezTo>
                    <a:pt x="3614271" y="0"/>
                    <a:pt x="3627107" y="12836"/>
                    <a:pt x="3627107" y="28670"/>
                  </a:cubicBezTo>
                  <a:lnTo>
                    <a:pt x="3627107" y="1604669"/>
                  </a:lnTo>
                  <a:cubicBezTo>
                    <a:pt x="3627107" y="1612273"/>
                    <a:pt x="3624087" y="1619565"/>
                    <a:pt x="3618710" y="1624942"/>
                  </a:cubicBezTo>
                  <a:cubicBezTo>
                    <a:pt x="3613333" y="1630319"/>
                    <a:pt x="3606041" y="1633339"/>
                    <a:pt x="3598437" y="1633339"/>
                  </a:cubicBezTo>
                  <a:lnTo>
                    <a:pt x="28670" y="1633339"/>
                  </a:lnTo>
                  <a:cubicBezTo>
                    <a:pt x="12836" y="1633339"/>
                    <a:pt x="0" y="1620503"/>
                    <a:pt x="0" y="1604669"/>
                  </a:cubicBezTo>
                  <a:lnTo>
                    <a:pt x="0" y="28670"/>
                  </a:lnTo>
                  <a:cubicBezTo>
                    <a:pt x="0" y="12836"/>
                    <a:pt x="12836" y="0"/>
                    <a:pt x="28670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27107" cy="1671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55322" y="1959801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09491" y="1959801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261799" y="1959801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10257" y="6531115"/>
            <a:ext cx="213757" cy="213757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390678" y="5629912"/>
            <a:ext cx="6240712" cy="3043916"/>
            <a:chOff x="0" y="0"/>
            <a:chExt cx="3173713" cy="15479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3713" cy="1547983"/>
            </a:xfrm>
            <a:custGeom>
              <a:avLst/>
              <a:gdLst/>
              <a:ahLst/>
              <a:cxnLst/>
              <a:rect r="r" b="b" t="t" l="l"/>
              <a:pathLst>
                <a:path h="1547983" w="3173713">
                  <a:moveTo>
                    <a:pt x="21089" y="0"/>
                  </a:moveTo>
                  <a:lnTo>
                    <a:pt x="3152623" y="0"/>
                  </a:lnTo>
                  <a:cubicBezTo>
                    <a:pt x="3158217" y="0"/>
                    <a:pt x="3163581" y="2222"/>
                    <a:pt x="3167536" y="6177"/>
                  </a:cubicBezTo>
                  <a:cubicBezTo>
                    <a:pt x="3171491" y="10132"/>
                    <a:pt x="3173713" y="15496"/>
                    <a:pt x="3173713" y="21089"/>
                  </a:cubicBezTo>
                  <a:lnTo>
                    <a:pt x="3173713" y="1526894"/>
                  </a:lnTo>
                  <a:cubicBezTo>
                    <a:pt x="3173713" y="1532487"/>
                    <a:pt x="3171491" y="1537851"/>
                    <a:pt x="3167536" y="1541806"/>
                  </a:cubicBezTo>
                  <a:cubicBezTo>
                    <a:pt x="3163581" y="1545761"/>
                    <a:pt x="3158217" y="1547983"/>
                    <a:pt x="3152623" y="1547983"/>
                  </a:cubicBezTo>
                  <a:lnTo>
                    <a:pt x="21089" y="1547983"/>
                  </a:lnTo>
                  <a:cubicBezTo>
                    <a:pt x="15496" y="1547983"/>
                    <a:pt x="10132" y="1545761"/>
                    <a:pt x="6177" y="1541806"/>
                  </a:cubicBezTo>
                  <a:cubicBezTo>
                    <a:pt x="2222" y="1537851"/>
                    <a:pt x="0" y="1532487"/>
                    <a:pt x="0" y="1526894"/>
                  </a:cubicBezTo>
                  <a:lnTo>
                    <a:pt x="0" y="21089"/>
                  </a:lnTo>
                  <a:cubicBezTo>
                    <a:pt x="0" y="15496"/>
                    <a:pt x="2222" y="10132"/>
                    <a:pt x="6177" y="6177"/>
                  </a:cubicBezTo>
                  <a:cubicBezTo>
                    <a:pt x="10132" y="2222"/>
                    <a:pt x="15496" y="0"/>
                    <a:pt x="21089" y="0"/>
                  </a:cubicBezTo>
                  <a:close/>
                </a:path>
              </a:pathLst>
            </a:custGeom>
            <a:solidFill>
              <a:srgbClr val="20242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73713" cy="1586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15710" y="5929565"/>
            <a:ext cx="179985" cy="179985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50920" y="5929565"/>
            <a:ext cx="179985" cy="179985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185168" y="5929565"/>
            <a:ext cx="179985" cy="179985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631390" y="-124893"/>
            <a:ext cx="2401212" cy="4169388"/>
            <a:chOff x="0" y="0"/>
            <a:chExt cx="632418" cy="10981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2418" cy="1098110"/>
            </a:xfrm>
            <a:custGeom>
              <a:avLst/>
              <a:gdLst/>
              <a:ahLst/>
              <a:cxnLst/>
              <a:rect r="r" b="b" t="t" l="l"/>
              <a:pathLst>
                <a:path h="1098110" w="632418">
                  <a:moveTo>
                    <a:pt x="99949" y="0"/>
                  </a:moveTo>
                  <a:lnTo>
                    <a:pt x="532469" y="0"/>
                  </a:lnTo>
                  <a:cubicBezTo>
                    <a:pt x="587669" y="0"/>
                    <a:pt x="632418" y="44749"/>
                    <a:pt x="632418" y="99949"/>
                  </a:cubicBezTo>
                  <a:lnTo>
                    <a:pt x="632418" y="998161"/>
                  </a:lnTo>
                  <a:cubicBezTo>
                    <a:pt x="632418" y="1053361"/>
                    <a:pt x="587669" y="1098110"/>
                    <a:pt x="532469" y="1098110"/>
                  </a:cubicBezTo>
                  <a:lnTo>
                    <a:pt x="99949" y="1098110"/>
                  </a:lnTo>
                  <a:cubicBezTo>
                    <a:pt x="44749" y="1098110"/>
                    <a:pt x="0" y="1053361"/>
                    <a:pt x="0" y="998161"/>
                  </a:cubicBezTo>
                  <a:lnTo>
                    <a:pt x="0" y="99949"/>
                  </a:lnTo>
                  <a:cubicBezTo>
                    <a:pt x="0" y="44749"/>
                    <a:pt x="44749" y="0"/>
                    <a:pt x="99949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32418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-5400000">
            <a:off x="16995547" y="2823093"/>
            <a:ext cx="988012" cy="871247"/>
          </a:xfrm>
          <a:custGeom>
            <a:avLst/>
            <a:gdLst/>
            <a:ahLst/>
            <a:cxnLst/>
            <a:rect r="r" b="b" t="t" l="l"/>
            <a:pathLst>
              <a:path h="871247" w="988012">
                <a:moveTo>
                  <a:pt x="0" y="0"/>
                </a:moveTo>
                <a:lnTo>
                  <a:pt x="988011" y="0"/>
                </a:lnTo>
                <a:lnTo>
                  <a:pt x="988011" y="871247"/>
                </a:lnTo>
                <a:lnTo>
                  <a:pt x="0" y="871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458731" y="3867150"/>
            <a:ext cx="1232089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Logistic Regression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13215981" y="3752722"/>
            <a:ext cx="0" cy="165397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7844839" y="7959139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-5400000">
            <a:off x="16463330" y="1468654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65365" y="2918674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School Iteration 2.3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11916" y="6776585"/>
            <a:ext cx="554361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By BOULGHERAIF Fatma Zohra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11916" y="6795635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&lt;h4&gt;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24014" y="7396980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&lt;/h4&gt;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70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01. What is Classification?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7708511" cy="891769"/>
            <a:chOff x="0" y="0"/>
            <a:chExt cx="2030225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0225" cy="234869"/>
            </a:xfrm>
            <a:custGeom>
              <a:avLst/>
              <a:gdLst/>
              <a:ahLst/>
              <a:cxnLst/>
              <a:rect r="r" b="b" t="t" l="l"/>
              <a:pathLst>
                <a:path h="234869" w="2030225">
                  <a:moveTo>
                    <a:pt x="0" y="0"/>
                  </a:moveTo>
                  <a:lnTo>
                    <a:pt x="2030225" y="0"/>
                  </a:lnTo>
                  <a:lnTo>
                    <a:pt x="2030225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30225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74066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What Is Classification?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9608856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3773032"/>
            <a:ext cx="16387655" cy="521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Classification</a:t>
            </a:r>
            <a:r>
              <a:rPr lang="en-US" sz="29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= Predicting a </a:t>
            </a:r>
            <a:r>
              <a:rPr lang="en-US" sz="29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discrete</a:t>
            </a:r>
            <a:r>
              <a:rPr lang="en-US" sz="29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label</a:t>
            </a:r>
            <a:r>
              <a:rPr lang="en-US" sz="29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(class)</a:t>
            </a:r>
            <a:r>
              <a:rPr lang="en-US" sz="29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as output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Examples: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Email Spam Filtering (Spam / Not Spam)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Medical Diagnosis (Benign / Malignant Tumors)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Sentiment Analysis - Classifying Social Media Posts (+ / - / neutral)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Churn Prediction (customer will leave ("churn") or stay ("not churn"))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02. Binary Classification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68580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Binary Classification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3996869"/>
            <a:ext cx="13965829" cy="318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Output: </a:t>
            </a:r>
            <a:r>
              <a:rPr lang="en-US" b="true" sz="2999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y∈{0,1}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Example: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Will this student pass? yes/no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Goal: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 a function that maps inputs → class label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1998025" cy="891769"/>
            <a:chOff x="0" y="0"/>
            <a:chExt cx="3159974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59974" cy="234869"/>
            </a:xfrm>
            <a:custGeom>
              <a:avLst/>
              <a:gdLst/>
              <a:ahLst/>
              <a:cxnLst/>
              <a:rect r="r" b="b" t="t" l="l"/>
              <a:pathLst>
                <a:path h="234869" w="3159974">
                  <a:moveTo>
                    <a:pt x="0" y="0"/>
                  </a:moveTo>
                  <a:lnTo>
                    <a:pt x="3159974" y="0"/>
                  </a:lnTo>
                  <a:lnTo>
                    <a:pt x="315997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5997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3898370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115214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Binary Classification as a Probability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29306" y="3609695"/>
            <a:ext cx="14229388" cy="566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7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P(y=1 | x)</a:t>
            </a:r>
          </a:p>
          <a:p>
            <a:pPr algn="ctr">
              <a:lnSpc>
                <a:spcPts val="4251"/>
              </a:lnSpc>
            </a:pPr>
          </a:p>
          <a:p>
            <a:pPr algn="l">
              <a:lnSpc>
                <a:spcPts val="2976"/>
              </a:lnSpc>
            </a:pPr>
            <a:r>
              <a:rPr lang="en-US" sz="2125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Input:</a:t>
            </a:r>
            <a:r>
              <a:rPr lang="en-US" sz="2125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x ∈ ℝⁿ</a:t>
            </a:r>
          </a:p>
          <a:p>
            <a:pPr algn="l">
              <a:lnSpc>
                <a:spcPts val="2976"/>
              </a:lnSpc>
            </a:pPr>
            <a:r>
              <a:rPr lang="en-US" sz="2125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Output: P(y=1 | x) ∈ [0,1]</a:t>
            </a:r>
          </a:p>
          <a:p>
            <a:pPr algn="ctr">
              <a:lnSpc>
                <a:spcPts val="2976"/>
              </a:lnSpc>
            </a:pPr>
          </a:p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Thresholding (seuillage in fr):</a:t>
            </a:r>
          </a:p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ŷ = 1 if P(y=1 | x) ≥ 0.5</a:t>
            </a:r>
          </a:p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ŷ = 0 otherwise</a:t>
            </a:r>
          </a:p>
          <a:p>
            <a:pPr algn="l">
              <a:lnSpc>
                <a:spcPts val="2976"/>
              </a:lnSpc>
            </a:pPr>
          </a:p>
          <a:p>
            <a:pPr algn="l">
              <a:lnSpc>
                <a:spcPts val="2976"/>
              </a:lnSpc>
            </a:pPr>
          </a:p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NB: </a:t>
            </a:r>
          </a:p>
          <a:p>
            <a:pPr algn="l" marL="458996" indent="-229498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Some models output labels directly (e.g. trees)</a:t>
            </a:r>
          </a:p>
          <a:p>
            <a:pPr algn="l" marL="458996" indent="-229498" lvl="1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Others output scores or probabilities</a:t>
            </a:r>
          </a:p>
          <a:p>
            <a:pPr algn="ctr">
              <a:lnSpc>
                <a:spcPts val="42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112089" y="3659197"/>
            <a:ext cx="8803653" cy="4751605"/>
          </a:xfrm>
          <a:custGeom>
            <a:avLst/>
            <a:gdLst/>
            <a:ahLst/>
            <a:cxnLst/>
            <a:rect r="r" b="b" t="t" l="l"/>
            <a:pathLst>
              <a:path h="4751605" w="8803653">
                <a:moveTo>
                  <a:pt x="0" y="0"/>
                </a:moveTo>
                <a:lnTo>
                  <a:pt x="8803653" y="0"/>
                </a:lnTo>
                <a:lnTo>
                  <a:pt x="8803653" y="4751605"/>
                </a:lnTo>
                <a:lnTo>
                  <a:pt x="0" y="47516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Why Not Linear Regression?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33055" y="8650997"/>
            <a:ext cx="1376172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Linear regression gives you outputs like `1.4`, `-0.2`, `0.87` , what do those mean?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Nothing stops the line from predicting outside [0, 1]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285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03. The Sigmoid Function</a:t>
            </a:r>
          </a:p>
          <a:p>
            <a:pPr algn="l">
              <a:lnSpc>
                <a:spcPts val="4608"/>
              </a:lnSpc>
            </a:pPr>
          </a:p>
          <a:p>
            <a:pPr algn="l">
              <a:lnSpc>
                <a:spcPts val="4608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943600" y="2258442"/>
            <a:ext cx="64008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We need to restrict the output to [0, 1]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4060732" cy="891769"/>
            <a:chOff x="0" y="0"/>
            <a:chExt cx="1069493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9493" cy="234869"/>
            </a:xfrm>
            <a:custGeom>
              <a:avLst/>
              <a:gdLst/>
              <a:ahLst/>
              <a:cxnLst/>
              <a:rect r="r" b="b" t="t" l="l"/>
              <a:pathLst>
                <a:path h="234869" w="1069493">
                  <a:moveTo>
                    <a:pt x="0" y="0"/>
                  </a:moveTo>
                  <a:lnTo>
                    <a:pt x="1069493" y="0"/>
                  </a:lnTo>
                  <a:lnTo>
                    <a:pt x="1069493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69493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6018227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2240421" y="7163955"/>
            <a:ext cx="0" cy="1362345"/>
          </a:xfrm>
          <a:prstGeom prst="line">
            <a:avLst/>
          </a:prstGeom>
          <a:ln cap="flat" w="57150">
            <a:solidFill>
              <a:srgbClr val="E7E5E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5400000">
            <a:off x="2116822" y="4256417"/>
            <a:ext cx="746931" cy="966616"/>
          </a:xfrm>
          <a:custGeom>
            <a:avLst/>
            <a:gdLst/>
            <a:ahLst/>
            <a:cxnLst/>
            <a:rect r="r" b="b" t="t" l="l"/>
            <a:pathLst>
              <a:path h="966616" w="746931">
                <a:moveTo>
                  <a:pt x="0" y="0"/>
                </a:moveTo>
                <a:lnTo>
                  <a:pt x="746931" y="0"/>
                </a:lnTo>
                <a:lnTo>
                  <a:pt x="746931" y="966616"/>
                </a:lnTo>
                <a:lnTo>
                  <a:pt x="0" y="96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06980" y="2516219"/>
            <a:ext cx="301752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Sigmoid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184865" y="4318635"/>
            <a:ext cx="12855721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fix:</a:t>
            </a:r>
            <a:r>
              <a:rPr lang="en-US" b="true" sz="25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Wrap the line</a:t>
            </a:r>
            <a:r>
              <a:rPr lang="en-US" b="true" sz="25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ar equation inside a sigmoid function that maps any real number → [0, 1].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459288" y="7191375"/>
            <a:ext cx="12855721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the full model 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P(y=1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|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x) = σ(h_β(X))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165773" y="5876925"/>
            <a:ext cx="16230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σ(z) = 1 / (1 + e⁻ᶻ) whe</a:t>
            </a:r>
            <a:r>
              <a:rPr lang="en-US" sz="29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 z = β₀ + β₁x₁ + ... + βₙxₙ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60155" y="6527486"/>
            <a:ext cx="2776212" cy="332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</a:t>
            </a:r>
            <a:r>
              <a:rPr lang="en-US" sz="2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---&gt; h(x)</a:t>
            </a:r>
          </a:p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sz="2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sz="2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---&gt; R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 ---&gt; sigmoid(x)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 ---&gt; [0, 1]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4060732" cy="891769"/>
            <a:chOff x="0" y="0"/>
            <a:chExt cx="1069493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9493" cy="234869"/>
            </a:xfrm>
            <a:custGeom>
              <a:avLst/>
              <a:gdLst/>
              <a:ahLst/>
              <a:cxnLst/>
              <a:rect r="r" b="b" t="t" l="l"/>
              <a:pathLst>
                <a:path h="234869" w="1069493">
                  <a:moveTo>
                    <a:pt x="0" y="0"/>
                  </a:moveTo>
                  <a:lnTo>
                    <a:pt x="1069493" y="0"/>
                  </a:lnTo>
                  <a:lnTo>
                    <a:pt x="1069493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69493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6018227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515739" y="3565770"/>
            <a:ext cx="10985586" cy="5936519"/>
          </a:xfrm>
          <a:custGeom>
            <a:avLst/>
            <a:gdLst/>
            <a:ahLst/>
            <a:cxnLst/>
            <a:rect r="r" b="b" t="t" l="l"/>
            <a:pathLst>
              <a:path h="5936519" w="10985586">
                <a:moveTo>
                  <a:pt x="0" y="0"/>
                </a:moveTo>
                <a:lnTo>
                  <a:pt x="10985587" y="0"/>
                </a:lnTo>
                <a:lnTo>
                  <a:pt x="10985587" y="5936519"/>
                </a:lnTo>
                <a:lnTo>
                  <a:pt x="0" y="59365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301752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Sigmoid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555835" cy="891769"/>
            <a:chOff x="0" y="0"/>
            <a:chExt cx="2780138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80137" cy="234869"/>
            </a:xfrm>
            <a:custGeom>
              <a:avLst/>
              <a:gdLst/>
              <a:ahLst/>
              <a:cxnLst/>
              <a:rect r="r" b="b" t="t" l="l"/>
              <a:pathLst>
                <a:path h="234869" w="2780137">
                  <a:moveTo>
                    <a:pt x="0" y="0"/>
                  </a:moveTo>
                  <a:lnTo>
                    <a:pt x="2780137" y="0"/>
                  </a:lnTo>
                  <a:lnTo>
                    <a:pt x="278013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8013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2456180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101498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Logistic Regression: Forward Pass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57592" y="4006394"/>
            <a:ext cx="11506171" cy="486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X ∈ ℝⁿ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</a:t>
            </a:r>
            <a:r>
              <a:rPr lang="en-US" sz="2171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│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│  Linear combination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▼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z = β₀ + βᵀX  ∈ ℝ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</a:t>
            </a:r>
            <a:r>
              <a:rPr lang="en-US" sz="2171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│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│  Sigmoid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▼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P(y = 1 | X) = σ(z) = 1 / (1 + e^{-z})  ∈ [0, 1]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</a:t>
            </a:r>
            <a:r>
              <a:rPr lang="en-US" sz="2171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│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│  Threshold (e.g. 0.5)</a:t>
            </a:r>
          </a:p>
          <a:p>
            <a:pPr algn="l">
              <a:lnSpc>
                <a:spcPts val="3039"/>
              </a:lnSpc>
            </a:pPr>
            <a:r>
              <a:rPr lang="en-US" sz="2171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▼</a:t>
            </a:r>
          </a:p>
          <a:p>
            <a:pPr algn="l">
              <a:lnSpc>
                <a:spcPts val="2455"/>
              </a:lnSpc>
            </a:pPr>
            <a:r>
              <a:rPr lang="en-US" sz="1753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ŷ ∈ {0, 1}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228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04. Log Loss (Binary Cross-Entropy)</a:t>
            </a:r>
          </a:p>
          <a:p>
            <a:pPr algn="l">
              <a:lnSpc>
                <a:spcPts val="4608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295381" cy="891769"/>
            <a:chOff x="0" y="0"/>
            <a:chExt cx="2711541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11540" cy="234869"/>
            </a:xfrm>
            <a:custGeom>
              <a:avLst/>
              <a:gdLst/>
              <a:ahLst/>
              <a:cxnLst/>
              <a:rect r="r" b="b" t="t" l="l"/>
              <a:pathLst>
                <a:path h="234869" w="2711540">
                  <a:moveTo>
                    <a:pt x="0" y="0"/>
                  </a:moveTo>
                  <a:lnTo>
                    <a:pt x="2711540" y="0"/>
                  </a:lnTo>
                  <a:lnTo>
                    <a:pt x="271154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11541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9601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Log Loss (Binary Cross-Entropy)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2195725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900345" y="3706822"/>
            <a:ext cx="13965829" cy="543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not MSE?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With sigmoid outputs, MSE creates a </a:t>
            </a:r>
            <a:r>
              <a:rPr lang="en-US" sz="24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non-convex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loss surface, gradient descent gets stuck in local minima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MSE also doesn't penalize confident wrong predictions harshly enough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630289" y="5143500"/>
            <a:ext cx="8505941" cy="3203536"/>
          </a:xfrm>
          <a:custGeom>
            <a:avLst/>
            <a:gdLst/>
            <a:ahLst/>
            <a:cxnLst/>
            <a:rect r="r" b="b" t="t" l="l"/>
            <a:pathLst>
              <a:path h="3203536" w="8505941">
                <a:moveTo>
                  <a:pt x="0" y="0"/>
                </a:moveTo>
                <a:lnTo>
                  <a:pt x="8505941" y="0"/>
                </a:lnTo>
                <a:lnTo>
                  <a:pt x="8505941" y="3203536"/>
                </a:lnTo>
                <a:lnTo>
                  <a:pt x="0" y="32035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295381" cy="891769"/>
            <a:chOff x="0" y="0"/>
            <a:chExt cx="2711541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11540" cy="234869"/>
            </a:xfrm>
            <a:custGeom>
              <a:avLst/>
              <a:gdLst/>
              <a:ahLst/>
              <a:cxnLst/>
              <a:rect r="r" b="b" t="t" l="l"/>
              <a:pathLst>
                <a:path h="234869" w="2711540">
                  <a:moveTo>
                    <a:pt x="0" y="0"/>
                  </a:moveTo>
                  <a:lnTo>
                    <a:pt x="2711540" y="0"/>
                  </a:lnTo>
                  <a:lnTo>
                    <a:pt x="271154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11541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2195725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4076976" y="5033669"/>
          <a:ext cx="10640514" cy="4229100"/>
        </p:xfrm>
        <a:graphic>
          <a:graphicData uri="http://schemas.openxmlformats.org/drawingml/2006/table">
            <a:tbl>
              <a:tblPr/>
              <a:tblGrid>
                <a:gridCol w="2434417"/>
                <a:gridCol w="2434417"/>
                <a:gridCol w="5771681"/>
              </a:tblGrid>
              <a:tr h="8458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Truth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 says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Loss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8458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 =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ŷ ≈ 1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6AC66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≈ 0 (good)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8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 =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ŷ ≈ 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→ ∞ (very wrong, heavily penalized)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8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 = 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ŷ ≈ 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6AC66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≈ 0 (good)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8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 = 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ŷ ≈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→ ∞ (very wrong, heavily penalized)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2006980" y="2516219"/>
            <a:ext cx="9601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Log Loss (Binary Cross-Entropy)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3697297"/>
            <a:ext cx="13965829" cy="218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r>
              <a:rPr lang="en-US" sz="28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-(1/n) Σ [ yᵢ log(ŷᵢ) + (1 - yᵢ) log(1 - ŷᵢ) ]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Intuition</a:t>
            </a:r>
            <a:r>
              <a:rPr lang="en-US" b="true" sz="24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: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10295381" cy="891769"/>
            <a:chOff x="0" y="0"/>
            <a:chExt cx="2711541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11540" cy="234869"/>
            </a:xfrm>
            <a:custGeom>
              <a:avLst/>
              <a:gdLst/>
              <a:ahLst/>
              <a:cxnLst/>
              <a:rect r="r" b="b" t="t" l="l"/>
              <a:pathLst>
                <a:path h="234869" w="2711540">
                  <a:moveTo>
                    <a:pt x="0" y="0"/>
                  </a:moveTo>
                  <a:lnTo>
                    <a:pt x="2711540" y="0"/>
                  </a:lnTo>
                  <a:lnTo>
                    <a:pt x="271154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11541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2195725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00345" y="3767804"/>
            <a:ext cx="11156035" cy="5690442"/>
          </a:xfrm>
          <a:custGeom>
            <a:avLst/>
            <a:gdLst/>
            <a:ahLst/>
            <a:cxnLst/>
            <a:rect r="r" b="b" t="t" l="l"/>
            <a:pathLst>
              <a:path h="5690442" w="11156035">
                <a:moveTo>
                  <a:pt x="0" y="0"/>
                </a:moveTo>
                <a:lnTo>
                  <a:pt x="11156035" y="0"/>
                </a:lnTo>
                <a:lnTo>
                  <a:pt x="11156035" y="5690442"/>
                </a:lnTo>
                <a:lnTo>
                  <a:pt x="0" y="56904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9601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Log Loss (Binary Cross-Entropy)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20735" y="5493112"/>
            <a:ext cx="3838565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Key property:</a:t>
            </a:r>
            <a:r>
              <a:rPr lang="en-US" b="true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 loss explodes when the model is </a:t>
            </a: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confidently wrong</a:t>
            </a: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 It rewards calibrated, honest predictions.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05. Gradient Descent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75831" cy="891769"/>
            <a:chOff x="0" y="0"/>
            <a:chExt cx="1758244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8244" cy="234869"/>
            </a:xfrm>
            <a:custGeom>
              <a:avLst/>
              <a:gdLst/>
              <a:ahLst/>
              <a:cxnLst/>
              <a:rect r="r" b="b" t="t" l="l"/>
              <a:pathLst>
                <a:path h="234869" w="1758244">
                  <a:moveTo>
                    <a:pt x="0" y="0"/>
                  </a:moveTo>
                  <a:lnTo>
                    <a:pt x="1758244" y="0"/>
                  </a:lnTo>
                  <a:lnTo>
                    <a:pt x="175824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5824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6176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Gradient Descent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06980" y="3623574"/>
            <a:ext cx="13965829" cy="489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Good</a:t>
            </a:r>
            <a:r>
              <a:rPr lang="en-US" b="true" sz="2799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news:</a:t>
            </a:r>
            <a:r>
              <a:rPr lang="en-US" b="true" sz="27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You</a:t>
            </a:r>
            <a:r>
              <a:rPr lang="en-US" b="true" sz="27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already know this part.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update rul</a:t>
            </a:r>
            <a:r>
              <a:rPr lang="en-US" b="true" sz="27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 of the backward pass is exactly the same:</a:t>
            </a:r>
          </a:p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wᵢ(</a:t>
            </a: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t+1) = wᵢ(t) − η · ∂L/∂wᵢ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The loss changed, but the algorithm does not change.</a:t>
            </a:r>
          </a:p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Gradient descent on log loss is convex → guaranteed to find the global minimum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428037" y="3752722"/>
            <a:ext cx="3431927" cy="3431927"/>
          </a:xfrm>
          <a:custGeom>
            <a:avLst/>
            <a:gdLst/>
            <a:ahLst/>
            <a:cxnLst/>
            <a:rect r="r" b="b" t="t" l="l"/>
            <a:pathLst>
              <a:path h="3431927" w="3431927">
                <a:moveTo>
                  <a:pt x="0" y="0"/>
                </a:moveTo>
                <a:lnTo>
                  <a:pt x="3431926" y="0"/>
                </a:lnTo>
                <a:lnTo>
                  <a:pt x="3431926" y="3431927"/>
                </a:lnTo>
                <a:lnTo>
                  <a:pt x="0" y="3431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86648" y="4727612"/>
            <a:ext cx="7314704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Any Questions 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78936" y="-23493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06980" y="4098221"/>
            <a:ext cx="14812572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 for your attention ✨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00345" y="4231571"/>
            <a:ext cx="5056654" cy="1184910"/>
            <a:chOff x="0" y="0"/>
            <a:chExt cx="1331794" cy="3120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1794" cy="312075"/>
            </a:xfrm>
            <a:custGeom>
              <a:avLst/>
              <a:gdLst/>
              <a:ahLst/>
              <a:cxnLst/>
              <a:rect r="r" b="b" t="t" l="l"/>
              <a:pathLst>
                <a:path h="312075" w="1331794">
                  <a:moveTo>
                    <a:pt x="0" y="0"/>
                  </a:moveTo>
                  <a:lnTo>
                    <a:pt x="1331794" y="0"/>
                  </a:lnTo>
                  <a:lnTo>
                    <a:pt x="1331794" y="312075"/>
                  </a:lnTo>
                  <a:lnTo>
                    <a:pt x="0" y="312075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1794" cy="350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H="true" flipV="true">
            <a:off x="7014149" y="3853727"/>
            <a:ext cx="0" cy="1940596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844839" y="8147301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DAHGbYwzG5U</dc:identifier>
  <dcterms:modified xsi:type="dcterms:W3CDTF">2011-08-01T06:04:30Z</dcterms:modified>
  <cp:revision>1</cp:revision>
  <dc:title>Iteration 2.3</dc:title>
</cp:coreProperties>
</file>