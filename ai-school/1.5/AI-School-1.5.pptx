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JetBrains Mono" charset="1" panose="02010509020102050004"/>
      <p:regular r:id="rId34"/>
    </p:embeddedFont>
    <p:embeddedFont>
      <p:font typeface="Kaushan Script" charset="1" panose="03060602040705080205"/>
      <p:regular r:id="rId35"/>
    </p:embeddedFont>
    <p:embeddedFont>
      <p:font typeface="JetBrains Mono Bold" charset="1" panose="02010809030102050004"/>
      <p:regular r:id="rId36"/>
    </p:embeddedFont>
    <p:embeddedFont>
      <p:font typeface="JetBrains Mono Bold Italics" charset="1" panose="02010809030102050004"/>
      <p:regular r:id="rId37"/>
    </p:embeddedFont>
    <p:embeddedFont>
      <p:font typeface="JetBrains Mono Italics" charset="1" panose="02010509020102050004"/>
      <p:regular r:id="rId38"/>
    </p:embeddedFont>
    <p:embeddedFont>
      <p:font typeface="Arimo" charset="1" panose="020B0604020202020204"/>
      <p:regular r:id="rId39"/>
    </p:embeddedFont>
    <p:embeddedFont>
      <p:font typeface="Canva Sans Bold" charset="1" panose="020B0803030501040103"/>
      <p:regular r:id="rId40"/>
    </p:embeddedFont>
    <p:embeddedFont>
      <p:font typeface="Arimo Bold" charset="1" panose="020B07040202020202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3170744" y="375272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16027" y="1462767"/>
            <a:ext cx="13771673" cy="6201585"/>
            <a:chOff x="0" y="0"/>
            <a:chExt cx="3627107" cy="16333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27107" cy="1633339"/>
            </a:xfrm>
            <a:custGeom>
              <a:avLst/>
              <a:gdLst/>
              <a:ahLst/>
              <a:cxnLst/>
              <a:rect r="r" b="b" t="t" l="l"/>
              <a:pathLst>
                <a:path h="1633339" w="3627107">
                  <a:moveTo>
                    <a:pt x="28670" y="0"/>
                  </a:moveTo>
                  <a:lnTo>
                    <a:pt x="3598437" y="0"/>
                  </a:lnTo>
                  <a:cubicBezTo>
                    <a:pt x="3614271" y="0"/>
                    <a:pt x="3627107" y="12836"/>
                    <a:pt x="3627107" y="28670"/>
                  </a:cubicBezTo>
                  <a:lnTo>
                    <a:pt x="3627107" y="1604669"/>
                  </a:lnTo>
                  <a:cubicBezTo>
                    <a:pt x="3627107" y="1612273"/>
                    <a:pt x="3624087" y="1619565"/>
                    <a:pt x="3618710" y="1624942"/>
                  </a:cubicBezTo>
                  <a:cubicBezTo>
                    <a:pt x="3613333" y="1630319"/>
                    <a:pt x="3606041" y="1633339"/>
                    <a:pt x="3598437" y="1633339"/>
                  </a:cubicBezTo>
                  <a:lnTo>
                    <a:pt x="28670" y="1633339"/>
                  </a:lnTo>
                  <a:cubicBezTo>
                    <a:pt x="12836" y="1633339"/>
                    <a:pt x="0" y="1620503"/>
                    <a:pt x="0" y="1604669"/>
                  </a:cubicBezTo>
                  <a:lnTo>
                    <a:pt x="0" y="28670"/>
                  </a:lnTo>
                  <a:cubicBezTo>
                    <a:pt x="0" y="12836"/>
                    <a:pt x="12836" y="0"/>
                    <a:pt x="28670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27107" cy="1671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55322" y="1959801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809491" y="1959801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261799" y="1959801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10257" y="6531115"/>
            <a:ext cx="213757" cy="213757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390678" y="5629912"/>
            <a:ext cx="6240712" cy="3043916"/>
            <a:chOff x="0" y="0"/>
            <a:chExt cx="3173713" cy="15479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3713" cy="1547983"/>
            </a:xfrm>
            <a:custGeom>
              <a:avLst/>
              <a:gdLst/>
              <a:ahLst/>
              <a:cxnLst/>
              <a:rect r="r" b="b" t="t" l="l"/>
              <a:pathLst>
                <a:path h="1547983" w="3173713">
                  <a:moveTo>
                    <a:pt x="21089" y="0"/>
                  </a:moveTo>
                  <a:lnTo>
                    <a:pt x="3152623" y="0"/>
                  </a:lnTo>
                  <a:cubicBezTo>
                    <a:pt x="3158217" y="0"/>
                    <a:pt x="3163581" y="2222"/>
                    <a:pt x="3167536" y="6177"/>
                  </a:cubicBezTo>
                  <a:cubicBezTo>
                    <a:pt x="3171491" y="10132"/>
                    <a:pt x="3173713" y="15496"/>
                    <a:pt x="3173713" y="21089"/>
                  </a:cubicBezTo>
                  <a:lnTo>
                    <a:pt x="3173713" y="1526894"/>
                  </a:lnTo>
                  <a:cubicBezTo>
                    <a:pt x="3173713" y="1532487"/>
                    <a:pt x="3171491" y="1537851"/>
                    <a:pt x="3167536" y="1541806"/>
                  </a:cubicBezTo>
                  <a:cubicBezTo>
                    <a:pt x="3163581" y="1545761"/>
                    <a:pt x="3158217" y="1547983"/>
                    <a:pt x="3152623" y="1547983"/>
                  </a:cubicBezTo>
                  <a:lnTo>
                    <a:pt x="21089" y="1547983"/>
                  </a:lnTo>
                  <a:cubicBezTo>
                    <a:pt x="15496" y="1547983"/>
                    <a:pt x="10132" y="1545761"/>
                    <a:pt x="6177" y="1541806"/>
                  </a:cubicBezTo>
                  <a:cubicBezTo>
                    <a:pt x="2222" y="1537851"/>
                    <a:pt x="0" y="1532487"/>
                    <a:pt x="0" y="1526894"/>
                  </a:cubicBezTo>
                  <a:lnTo>
                    <a:pt x="0" y="21089"/>
                  </a:lnTo>
                  <a:cubicBezTo>
                    <a:pt x="0" y="15496"/>
                    <a:pt x="2222" y="10132"/>
                    <a:pt x="6177" y="6177"/>
                  </a:cubicBezTo>
                  <a:cubicBezTo>
                    <a:pt x="10132" y="2222"/>
                    <a:pt x="15496" y="0"/>
                    <a:pt x="21089" y="0"/>
                  </a:cubicBezTo>
                  <a:close/>
                </a:path>
              </a:pathLst>
            </a:custGeom>
            <a:solidFill>
              <a:srgbClr val="20242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73713" cy="1586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15710" y="5929565"/>
            <a:ext cx="179985" cy="179985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50920" y="5929565"/>
            <a:ext cx="179985" cy="179985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185168" y="5929565"/>
            <a:ext cx="179985" cy="179985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631390" y="-124893"/>
            <a:ext cx="2401212" cy="4169388"/>
            <a:chOff x="0" y="0"/>
            <a:chExt cx="632418" cy="10981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2418" cy="1098110"/>
            </a:xfrm>
            <a:custGeom>
              <a:avLst/>
              <a:gdLst/>
              <a:ahLst/>
              <a:cxnLst/>
              <a:rect r="r" b="b" t="t" l="l"/>
              <a:pathLst>
                <a:path h="1098110" w="632418">
                  <a:moveTo>
                    <a:pt x="99949" y="0"/>
                  </a:moveTo>
                  <a:lnTo>
                    <a:pt x="532469" y="0"/>
                  </a:lnTo>
                  <a:cubicBezTo>
                    <a:pt x="587669" y="0"/>
                    <a:pt x="632418" y="44749"/>
                    <a:pt x="632418" y="99949"/>
                  </a:cubicBezTo>
                  <a:lnTo>
                    <a:pt x="632418" y="998161"/>
                  </a:lnTo>
                  <a:cubicBezTo>
                    <a:pt x="632418" y="1053361"/>
                    <a:pt x="587669" y="1098110"/>
                    <a:pt x="532469" y="1098110"/>
                  </a:cubicBezTo>
                  <a:lnTo>
                    <a:pt x="99949" y="1098110"/>
                  </a:lnTo>
                  <a:cubicBezTo>
                    <a:pt x="44749" y="1098110"/>
                    <a:pt x="0" y="1053361"/>
                    <a:pt x="0" y="998161"/>
                  </a:cubicBezTo>
                  <a:lnTo>
                    <a:pt x="0" y="99949"/>
                  </a:lnTo>
                  <a:cubicBezTo>
                    <a:pt x="0" y="44749"/>
                    <a:pt x="44749" y="0"/>
                    <a:pt x="99949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32418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-5400000">
            <a:off x="16995547" y="2823093"/>
            <a:ext cx="988012" cy="871247"/>
          </a:xfrm>
          <a:custGeom>
            <a:avLst/>
            <a:gdLst/>
            <a:ahLst/>
            <a:cxnLst/>
            <a:rect r="r" b="b" t="t" l="l"/>
            <a:pathLst>
              <a:path h="871247" w="988012">
                <a:moveTo>
                  <a:pt x="0" y="0"/>
                </a:moveTo>
                <a:lnTo>
                  <a:pt x="988011" y="0"/>
                </a:lnTo>
                <a:lnTo>
                  <a:pt x="988011" y="871247"/>
                </a:lnTo>
                <a:lnTo>
                  <a:pt x="0" y="871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458731" y="4172802"/>
            <a:ext cx="6954878" cy="1936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Statistics</a:t>
            </a:r>
            <a:r>
              <a:rPr lang="en-US" sz="7200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By BOULGHERAIF F.Z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2458731" y="5401246"/>
            <a:ext cx="5328958" cy="827592"/>
            <a:chOff x="0" y="0"/>
            <a:chExt cx="1403512" cy="2179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03512" cy="217967"/>
            </a:xfrm>
            <a:custGeom>
              <a:avLst/>
              <a:gdLst/>
              <a:ahLst/>
              <a:cxnLst/>
              <a:rect r="r" b="b" t="t" l="l"/>
              <a:pathLst>
                <a:path h="217967" w="1403512">
                  <a:moveTo>
                    <a:pt x="0" y="0"/>
                  </a:moveTo>
                  <a:lnTo>
                    <a:pt x="1403512" y="0"/>
                  </a:lnTo>
                  <a:lnTo>
                    <a:pt x="1403512" y="217967"/>
                  </a:lnTo>
                  <a:lnTo>
                    <a:pt x="0" y="217967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403512" cy="256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 flipV="true">
            <a:off x="7787689" y="5207851"/>
            <a:ext cx="0" cy="1181999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7844839" y="7959139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-5400000">
            <a:off x="16463330" y="1468654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65365" y="2918674"/>
            <a:ext cx="65836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School</a:t>
            </a:r>
            <a:r>
              <a:rPr lang="en-US" sz="36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 Iteration 1.5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11916" y="6776585"/>
            <a:ext cx="5543619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A little bit of stats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805702" y="6840054"/>
            <a:ext cx="8379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&lt;h4&gt;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024014" y="7308117"/>
            <a:ext cx="8379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&lt;/h4&gt;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2180746" y="4058732"/>
            <a:ext cx="2520975" cy="2048865"/>
          </a:xfrm>
          <a:custGeom>
            <a:avLst/>
            <a:gdLst/>
            <a:ahLst/>
            <a:cxnLst/>
            <a:rect r="r" b="b" t="t" l="l"/>
            <a:pathLst>
              <a:path h="2048865" w="2520975">
                <a:moveTo>
                  <a:pt x="0" y="0"/>
                </a:moveTo>
                <a:lnTo>
                  <a:pt x="2520975" y="0"/>
                </a:lnTo>
                <a:lnTo>
                  <a:pt x="2520975" y="2048865"/>
                </a:lnTo>
                <a:lnTo>
                  <a:pt x="0" y="2048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06980" y="2698036"/>
            <a:ext cx="16459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Agenda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403266" y="4119067"/>
            <a:ext cx="2520975" cy="2048865"/>
          </a:xfrm>
          <a:custGeom>
            <a:avLst/>
            <a:gdLst/>
            <a:ahLst/>
            <a:cxnLst/>
            <a:rect r="r" b="b" t="t" l="l"/>
            <a:pathLst>
              <a:path h="2048865" w="2520975">
                <a:moveTo>
                  <a:pt x="0" y="0"/>
                </a:moveTo>
                <a:lnTo>
                  <a:pt x="2520975" y="0"/>
                </a:lnTo>
                <a:lnTo>
                  <a:pt x="2520975" y="2048866"/>
                </a:lnTo>
                <a:lnTo>
                  <a:pt x="0" y="2048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34406" y="4814242"/>
            <a:ext cx="201365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01. Stats &amp; ML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2656926" y="4813935"/>
            <a:ext cx="201365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04. Measures of Dispersion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587546" y="4044494"/>
            <a:ext cx="2520975" cy="2048865"/>
          </a:xfrm>
          <a:custGeom>
            <a:avLst/>
            <a:gdLst/>
            <a:ahLst/>
            <a:cxnLst/>
            <a:rect r="r" b="b" t="t" l="l"/>
            <a:pathLst>
              <a:path h="2048865" w="2520975">
                <a:moveTo>
                  <a:pt x="0" y="0"/>
                </a:moveTo>
                <a:lnTo>
                  <a:pt x="2520975" y="0"/>
                </a:lnTo>
                <a:lnTo>
                  <a:pt x="2520975" y="2048865"/>
                </a:lnTo>
                <a:lnTo>
                  <a:pt x="0" y="2048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136526" y="6917222"/>
            <a:ext cx="2520975" cy="2048865"/>
          </a:xfrm>
          <a:custGeom>
            <a:avLst/>
            <a:gdLst/>
            <a:ahLst/>
            <a:cxnLst/>
            <a:rect r="r" b="b" t="t" l="l"/>
            <a:pathLst>
              <a:path h="2048865" w="2520975">
                <a:moveTo>
                  <a:pt x="0" y="0"/>
                </a:moveTo>
                <a:lnTo>
                  <a:pt x="2520975" y="0"/>
                </a:lnTo>
                <a:lnTo>
                  <a:pt x="2520975" y="2048865"/>
                </a:lnTo>
                <a:lnTo>
                  <a:pt x="0" y="2048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841206" y="4800005"/>
            <a:ext cx="201365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02. Basics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90186" y="7612089"/>
            <a:ext cx="201365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05. Outliers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8996466" y="4058732"/>
            <a:ext cx="2520975" cy="2048865"/>
          </a:xfrm>
          <a:custGeom>
            <a:avLst/>
            <a:gdLst/>
            <a:ahLst/>
            <a:cxnLst/>
            <a:rect r="r" b="b" t="t" l="l"/>
            <a:pathLst>
              <a:path h="2048865" w="2520975">
                <a:moveTo>
                  <a:pt x="0" y="0"/>
                </a:moveTo>
                <a:lnTo>
                  <a:pt x="2520975" y="0"/>
                </a:lnTo>
                <a:lnTo>
                  <a:pt x="2520975" y="2048865"/>
                </a:lnTo>
                <a:lnTo>
                  <a:pt x="0" y="2048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545446" y="6931459"/>
            <a:ext cx="2520975" cy="2048865"/>
          </a:xfrm>
          <a:custGeom>
            <a:avLst/>
            <a:gdLst/>
            <a:ahLst/>
            <a:cxnLst/>
            <a:rect r="r" b="b" t="t" l="l"/>
            <a:pathLst>
              <a:path h="2048865" w="2520975">
                <a:moveTo>
                  <a:pt x="0" y="0"/>
                </a:moveTo>
                <a:lnTo>
                  <a:pt x="2520975" y="0"/>
                </a:lnTo>
                <a:lnTo>
                  <a:pt x="2520975" y="2048865"/>
                </a:lnTo>
                <a:lnTo>
                  <a:pt x="0" y="2048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250126" y="4814242"/>
            <a:ext cx="201365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03. Measures of Central Tendency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99106" y="7626326"/>
            <a:ext cx="201365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06. Distributions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29" id="29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AutoShape 34" id="34"/>
          <p:cNvSpPr/>
          <p:nvPr/>
        </p:nvSpPr>
        <p:spPr>
          <a:xfrm flipV="true">
            <a:off x="3710069" y="2484649"/>
            <a:ext cx="0" cy="1106858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2445366" y="6931459"/>
            <a:ext cx="2520975" cy="2048865"/>
          </a:xfrm>
          <a:custGeom>
            <a:avLst/>
            <a:gdLst/>
            <a:ahLst/>
            <a:cxnLst/>
            <a:rect r="r" b="b" t="t" l="l"/>
            <a:pathLst>
              <a:path h="2048865" w="2520975">
                <a:moveTo>
                  <a:pt x="0" y="0"/>
                </a:moveTo>
                <a:lnTo>
                  <a:pt x="2520975" y="0"/>
                </a:lnTo>
                <a:lnTo>
                  <a:pt x="2520975" y="2048865"/>
                </a:lnTo>
                <a:lnTo>
                  <a:pt x="0" y="2048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038567" y="6931459"/>
            <a:ext cx="2520975" cy="2048865"/>
          </a:xfrm>
          <a:custGeom>
            <a:avLst/>
            <a:gdLst/>
            <a:ahLst/>
            <a:cxnLst/>
            <a:rect r="r" b="b" t="t" l="l"/>
            <a:pathLst>
              <a:path h="2048865" w="2520975">
                <a:moveTo>
                  <a:pt x="0" y="0"/>
                </a:moveTo>
                <a:lnTo>
                  <a:pt x="2520974" y="0"/>
                </a:lnTo>
                <a:lnTo>
                  <a:pt x="2520974" y="2048865"/>
                </a:lnTo>
                <a:lnTo>
                  <a:pt x="0" y="2048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2699026" y="7686969"/>
            <a:ext cx="201365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08. Stats → ML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92226" y="7626326"/>
            <a:ext cx="2013655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07. Correlation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3947194" cy="891769"/>
            <a:chOff x="0" y="0"/>
            <a:chExt cx="1039590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9590" cy="234869"/>
            </a:xfrm>
            <a:custGeom>
              <a:avLst/>
              <a:gdLst/>
              <a:ahLst/>
              <a:cxnLst/>
              <a:rect r="r" b="b" t="t" l="l"/>
              <a:pathLst>
                <a:path h="234869" w="1039590">
                  <a:moveTo>
                    <a:pt x="0" y="0"/>
                  </a:moveTo>
                  <a:lnTo>
                    <a:pt x="1039590" y="0"/>
                  </a:lnTo>
                  <a:lnTo>
                    <a:pt x="103959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3959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38404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01. Stats &amp; ML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5908677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4472788"/>
            <a:ext cx="13965829" cy="375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tistics and machine learning are deeply intertwined in </a:t>
            </a: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two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major ways: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1- Stats is the language of many ML models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Many ML algorithms are built on statistical foundations. Linear regression, Naive Bayes, logistic regression, PCA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2- Stats is how we explore data before training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Before feeding data to any algorithm, we need to understand it. No good model was ever built on poorly understood data.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924042" y="3129629"/>
            <a:ext cx="6439916" cy="5233895"/>
          </a:xfrm>
          <a:custGeom>
            <a:avLst/>
            <a:gdLst/>
            <a:ahLst/>
            <a:cxnLst/>
            <a:rect r="r" b="b" t="t" l="l"/>
            <a:pathLst>
              <a:path h="5233895" w="6439916">
                <a:moveTo>
                  <a:pt x="0" y="0"/>
                </a:moveTo>
                <a:lnTo>
                  <a:pt x="6439916" y="0"/>
                </a:lnTo>
                <a:lnTo>
                  <a:pt x="6439916" y="5233895"/>
                </a:lnTo>
                <a:lnTo>
                  <a:pt x="0" y="52338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637221" y="5641802"/>
            <a:ext cx="5013559" cy="937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8"/>
              </a:lnSpc>
            </a:pPr>
            <a:r>
              <a:rPr lang="en-US" sz="5477" b="true">
                <a:solidFill>
                  <a:srgbClr val="272D3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Basics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69966"/>
            <a:ext cx="7300805" cy="863271"/>
            <a:chOff x="0" y="0"/>
            <a:chExt cx="1922846" cy="2273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2846" cy="227364"/>
            </a:xfrm>
            <a:custGeom>
              <a:avLst/>
              <a:gdLst/>
              <a:ahLst/>
              <a:cxnLst/>
              <a:rect r="r" b="b" t="t" l="l"/>
              <a:pathLst>
                <a:path h="227364" w="1922846">
                  <a:moveTo>
                    <a:pt x="0" y="0"/>
                  </a:moveTo>
                  <a:lnTo>
                    <a:pt x="1922846" y="0"/>
                  </a:lnTo>
                  <a:lnTo>
                    <a:pt x="1922846" y="227364"/>
                  </a:lnTo>
                  <a:lnTo>
                    <a:pt x="0" y="227364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22846" cy="26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8700031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Basics: Types of Data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9201150" y="2161933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4091654"/>
            <a:ext cx="6302793" cy="3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Numerical (Quantitative)</a:t>
            </a:r>
            <a:r>
              <a:rPr lang="en-US" sz="22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that represents measurable quantities.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Can be: </a:t>
            </a:r>
          </a:p>
          <a:p>
            <a:pPr algn="l" marL="496569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continuous (height, temperature, salary); </a:t>
            </a:r>
          </a:p>
          <a:p>
            <a:pPr algn="l" marL="496569" indent="-248284" lvl="1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 discrete (number of items, count of events).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603650" y="4091654"/>
            <a:ext cx="6632717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Categorical (Nominal | Qualitative)</a:t>
            </a:r>
            <a:r>
              <a:rPr lang="en-US" sz="22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that represents categories with no natural order. 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Examples: gender, country, color, type of animal.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603650" y="6688771"/>
            <a:ext cx="6827226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Ordinal</a:t>
            </a:r>
            <a:r>
              <a:rPr lang="en-US" sz="22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with categories that have a meaningful order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Examples: rating (1-5), shirt size (s &lt; m &lt; l)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62758"/>
            <a:ext cx="9043535" cy="870480"/>
            <a:chOff x="0" y="0"/>
            <a:chExt cx="2381836" cy="2292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81836" cy="229262"/>
            </a:xfrm>
            <a:custGeom>
              <a:avLst/>
              <a:gdLst/>
              <a:ahLst/>
              <a:cxnLst/>
              <a:rect r="r" b="b" t="t" l="l"/>
              <a:pathLst>
                <a:path h="229262" w="2381836">
                  <a:moveTo>
                    <a:pt x="0" y="0"/>
                  </a:moveTo>
                  <a:lnTo>
                    <a:pt x="2381836" y="0"/>
                  </a:lnTo>
                  <a:lnTo>
                    <a:pt x="2381836" y="229262"/>
                  </a:lnTo>
                  <a:lnTo>
                    <a:pt x="0" y="229262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381836" cy="267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11257999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Basics: Population vs Sample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1001030" y="2161933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4091654"/>
            <a:ext cx="6302793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Population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</a:t>
            </a:r>
            <a:r>
              <a:rPr lang="en-US" sz="22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 entire group you want to draw conclusions about. 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Example: all students in Algeria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603650" y="4091654"/>
            <a:ext cx="6632717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Sample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subse</a:t>
            </a:r>
            <a:r>
              <a:rPr lang="en-US" sz="22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 of the population that we actually collect and analyze. Example: 500 randomly selected students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900345" y="6805009"/>
            <a:ext cx="1306523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6AC6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 good sample</a:t>
            </a:r>
            <a:r>
              <a:rPr lang="en-US" sz="2299">
                <a:solidFill>
                  <a:srgbClr val="6AC6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is representative: it reflects the population without bias.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00345" y="8151176"/>
            <a:ext cx="1306523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👉</a:t>
            </a:r>
            <a:r>
              <a:rPr lang="en-US" b="true" sz="22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Most</a:t>
            </a:r>
            <a:r>
              <a:rPr lang="en-US" b="true" sz="22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real-world datasets are samples, not populations.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12501502" cy="838773"/>
            <a:chOff x="0" y="0"/>
            <a:chExt cx="3292577" cy="2209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92577" cy="220911"/>
            </a:xfrm>
            <a:custGeom>
              <a:avLst/>
              <a:gdLst/>
              <a:ahLst/>
              <a:cxnLst/>
              <a:rect r="r" b="b" t="t" l="l"/>
              <a:pathLst>
                <a:path h="220911" w="3292577">
                  <a:moveTo>
                    <a:pt x="0" y="0"/>
                  </a:moveTo>
                  <a:lnTo>
                    <a:pt x="3292577" y="0"/>
                  </a:lnTo>
                  <a:lnTo>
                    <a:pt x="3292577" y="220911"/>
                  </a:lnTo>
                  <a:lnTo>
                    <a:pt x="0" y="220911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292577" cy="259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120700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Basics: Descriptive vs Inferential Stats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4401847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4324402"/>
            <a:ext cx="6375588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Descriptive Stats: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Summarizes and describes the data you have. 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Answers: </a:t>
            </a:r>
            <a:r>
              <a:rPr lang="en-US" sz="2299" i="true" b="true">
                <a:solidFill>
                  <a:srgbClr val="FFFFFF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What does my data look like?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Examples: mean, median, standard deviation, histograms, frequency tables.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144000" y="4324402"/>
            <a:ext cx="6375588" cy="3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Inferential Stats: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Uses a sample to make conclusions about a larger population. 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Answers: </a:t>
            </a:r>
            <a:r>
              <a:rPr lang="en-US" sz="2299" i="true">
                <a:solidFill>
                  <a:srgbClr val="FEFEFE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What can I conclude beyond my data?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Examples: hypothesis testing, confidence intervals, p-values.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-1330614">
            <a:off x="6597472" y="8575918"/>
            <a:ext cx="1054591" cy="1364765"/>
          </a:xfrm>
          <a:custGeom>
            <a:avLst/>
            <a:gdLst/>
            <a:ahLst/>
            <a:cxnLst/>
            <a:rect r="r" b="b" t="t" l="l"/>
            <a:pathLst>
              <a:path h="1364765" w="1054591">
                <a:moveTo>
                  <a:pt x="0" y="0"/>
                </a:moveTo>
                <a:lnTo>
                  <a:pt x="1054590" y="0"/>
                </a:lnTo>
                <a:lnTo>
                  <a:pt x="1054590" y="1364764"/>
                </a:lnTo>
                <a:lnTo>
                  <a:pt x="0" y="13647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5924042" y="3129629"/>
            <a:ext cx="6439916" cy="5233895"/>
            <a:chOff x="0" y="0"/>
            <a:chExt cx="8586555" cy="69785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86555" cy="6978527"/>
            </a:xfrm>
            <a:custGeom>
              <a:avLst/>
              <a:gdLst/>
              <a:ahLst/>
              <a:cxnLst/>
              <a:rect r="r" b="b" t="t" l="l"/>
              <a:pathLst>
                <a:path h="6978527" w="8586555">
                  <a:moveTo>
                    <a:pt x="0" y="0"/>
                  </a:moveTo>
                  <a:lnTo>
                    <a:pt x="8586555" y="0"/>
                  </a:lnTo>
                  <a:lnTo>
                    <a:pt x="8586555" y="6978527"/>
                  </a:lnTo>
                  <a:lnTo>
                    <a:pt x="0" y="697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712736" y="2109191"/>
              <a:ext cx="6684745" cy="3808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68"/>
                </a:lnSpc>
              </a:pPr>
              <a:r>
                <a:rPr lang="en-US" sz="5477" b="true">
                  <a:solidFill>
                    <a:srgbClr val="272D3A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03. Measures of Central Tendency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10943199" cy="838773"/>
            <a:chOff x="0" y="0"/>
            <a:chExt cx="2882159" cy="2209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82160" cy="220911"/>
            </a:xfrm>
            <a:custGeom>
              <a:avLst/>
              <a:gdLst/>
              <a:ahLst/>
              <a:cxnLst/>
              <a:rect r="r" b="b" t="t" l="l"/>
              <a:pathLst>
                <a:path h="220911" w="2882160">
                  <a:moveTo>
                    <a:pt x="0" y="0"/>
                  </a:moveTo>
                  <a:lnTo>
                    <a:pt x="2882160" y="0"/>
                  </a:lnTo>
                  <a:lnTo>
                    <a:pt x="2882160" y="220911"/>
                  </a:lnTo>
                  <a:lnTo>
                    <a:pt x="0" y="220911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882159" cy="259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2900694" y="2087473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754260" y="1193950"/>
            <a:ext cx="2503253" cy="2115844"/>
          </a:xfrm>
          <a:custGeom>
            <a:avLst/>
            <a:gdLst/>
            <a:ahLst/>
            <a:cxnLst/>
            <a:rect r="r" b="b" t="t" l="l"/>
            <a:pathLst>
              <a:path h="2115844" w="2503253">
                <a:moveTo>
                  <a:pt x="0" y="0"/>
                </a:moveTo>
                <a:lnTo>
                  <a:pt x="2503253" y="0"/>
                </a:lnTo>
                <a:lnTo>
                  <a:pt x="2503253" y="2115844"/>
                </a:lnTo>
                <a:lnTo>
                  <a:pt x="0" y="21158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104241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Measures of Central Tendency: Mean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4314877"/>
            <a:ext cx="13373247" cy="471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mean is the arithmetic aver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ge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o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all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values in a dataset.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Mean = Sum of all values / Number of values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Example: [2, 4, 6, 8, 10] → Mean = 30 / 5 = 6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+ Easy to understand and to compute 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_ Highly sensitive to </a:t>
            </a:r>
            <a:r>
              <a:rPr lang="en-US" sz="2299" b="true">
                <a:solidFill>
                  <a:srgbClr val="E52C21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outliers</a:t>
            </a: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. One extreme value can pull the mean far from the "center" of most data points.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[2, 4, 6, 8, 1000] → Mean = 204 (not representative at all)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+ 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9" id="29"/>
          <p:cNvSpPr txBox="true"/>
          <p:nvPr/>
        </p:nvSpPr>
        <p:spPr>
          <a:xfrm rot="-4878172">
            <a:off x="928699" y="6502435"/>
            <a:ext cx="827716" cy="88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8"/>
              </a:lnSpc>
              <a:spcBef>
                <a:spcPct val="0"/>
              </a:spcBef>
            </a:pPr>
            <a:r>
              <a:rPr lang="en-US" b="true" sz="518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📌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11136585" cy="837838"/>
            <a:chOff x="0" y="0"/>
            <a:chExt cx="2933092" cy="2206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933092" cy="220665"/>
            </a:xfrm>
            <a:custGeom>
              <a:avLst/>
              <a:gdLst/>
              <a:ahLst/>
              <a:cxnLst/>
              <a:rect r="r" b="b" t="t" l="l"/>
              <a:pathLst>
                <a:path h="220665" w="2933092">
                  <a:moveTo>
                    <a:pt x="0" y="0"/>
                  </a:moveTo>
                  <a:lnTo>
                    <a:pt x="2933092" y="0"/>
                  </a:lnTo>
                  <a:lnTo>
                    <a:pt x="2933092" y="220665"/>
                  </a:lnTo>
                  <a:lnTo>
                    <a:pt x="0" y="220665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933092" cy="25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109728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Measures of Central Tendency: Median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3036930" y="2087473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4314877"/>
            <a:ext cx="13373247" cy="474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median is the midd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le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value when data is sorted in order.</a:t>
            </a:r>
          </a:p>
          <a:p>
            <a:pPr algn="l">
              <a:lnSpc>
                <a:spcPts val="3219"/>
              </a:lnSpc>
            </a:pP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If the count is odd: take the middle value.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If the count is even: take the </a:t>
            </a:r>
            <a:r>
              <a:rPr lang="en-US" b="true" sz="2299" u="sng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average of the two middle</a:t>
            </a: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values.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Example: [2, 4, </a:t>
            </a:r>
            <a:r>
              <a:rPr lang="en-US" sz="2299" b="tru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6</a:t>
            </a: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, 8, 10] → Median = 6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        [2, </a:t>
            </a:r>
            <a:r>
              <a:rPr lang="en-US" sz="2299" b="tru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4, 6</a:t>
            </a: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, 8] → Median = (4+6)/2 = 5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+ </a:t>
            </a:r>
            <a:r>
              <a:rPr lang="en-US" sz="24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Robust to outliers.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👉 Use when outliers are present, data is skewed.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+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10844219" cy="911442"/>
            <a:chOff x="0" y="0"/>
            <a:chExt cx="2856091" cy="240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56091" cy="240050"/>
            </a:xfrm>
            <a:custGeom>
              <a:avLst/>
              <a:gdLst/>
              <a:ahLst/>
              <a:cxnLst/>
              <a:rect r="r" b="b" t="t" l="l"/>
              <a:pathLst>
                <a:path h="240050" w="2856091">
                  <a:moveTo>
                    <a:pt x="0" y="0"/>
                  </a:moveTo>
                  <a:lnTo>
                    <a:pt x="2856091" y="0"/>
                  </a:lnTo>
                  <a:lnTo>
                    <a:pt x="2856091" y="240050"/>
                  </a:lnTo>
                  <a:lnTo>
                    <a:pt x="0" y="240050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856091" cy="27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104241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Measures of Central Tendency: Mode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274456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4314877"/>
            <a:ext cx="13373247" cy="412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mode is the </a:t>
            </a:r>
            <a:r>
              <a:rPr lang="en-US" sz="2799" u="sng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most frequently occurring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value in a dataset.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 dataset can have:</a:t>
            </a:r>
          </a:p>
          <a:p>
            <a:pPr algn="l" marL="993138" indent="-331046" lvl="2">
              <a:lnSpc>
                <a:spcPts val="3219"/>
              </a:lnSpc>
              <a:buFont typeface="Arial"/>
              <a:buChar char="⚬"/>
            </a:pP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No mode — all values appear once</a:t>
            </a:r>
          </a:p>
          <a:p>
            <a:pPr algn="l" marL="993138" indent="-331046" lvl="2">
              <a:lnSpc>
                <a:spcPts val="3219"/>
              </a:lnSpc>
              <a:buFont typeface="Arial"/>
              <a:buChar char="⚬"/>
            </a:pP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One mode — unimod</a:t>
            </a:r>
            <a:r>
              <a:rPr lang="en-US" b="true" sz="2299" u="non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</a:t>
            </a: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</a:t>
            </a:r>
          </a:p>
          <a:p>
            <a:pPr algn="l" marL="993138" indent="-331046" lvl="2">
              <a:lnSpc>
                <a:spcPts val="3219"/>
              </a:lnSpc>
              <a:buFont typeface="Arial"/>
              <a:buChar char="⚬"/>
            </a:pP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Two</a:t>
            </a:r>
            <a:r>
              <a:rPr lang="en-US" b="true" sz="2299" u="non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</a:t>
            </a:r>
            <a:r>
              <a:rPr lang="en-US" b="true" sz="2299" u="non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</a:t>
            </a: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des —</a:t>
            </a:r>
            <a:r>
              <a:rPr lang="en-US" b="true" sz="2299" u="non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bimodal</a:t>
            </a:r>
          </a:p>
          <a:p>
            <a:pPr algn="l" marL="993138" indent="-331046" lvl="2">
              <a:lnSpc>
                <a:spcPts val="3219"/>
              </a:lnSpc>
              <a:buFont typeface="Arial"/>
              <a:buChar char="⚬"/>
            </a:pP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Mul</a:t>
            </a:r>
            <a:r>
              <a:rPr lang="en-US" b="true" sz="2299" u="non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</a:t>
            </a: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ipl</a:t>
            </a:r>
            <a:r>
              <a:rPr lang="en-US" b="true" sz="2299" u="non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 </a:t>
            </a: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</a:t>
            </a:r>
            <a:r>
              <a:rPr lang="en-US" b="true" sz="2299" u="non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</a:t>
            </a: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des —</a:t>
            </a:r>
            <a:r>
              <a:rPr lang="en-US" b="true" sz="2299" u="non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m</a:t>
            </a: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ult</a:t>
            </a:r>
            <a:r>
              <a:rPr lang="en-US" b="true" sz="2299" u="non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</a:t>
            </a: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mo</a:t>
            </a:r>
            <a:r>
              <a:rPr lang="en-US" b="true" sz="2299" u="non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</a:t>
            </a: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al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👉 The only measure that</a:t>
            </a:r>
            <a:r>
              <a:rPr lang="en-US" sz="24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works for categorical data.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5924042" y="3129629"/>
            <a:ext cx="6439916" cy="5233895"/>
            <a:chOff x="0" y="0"/>
            <a:chExt cx="8586555" cy="69785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86555" cy="6978527"/>
            </a:xfrm>
            <a:custGeom>
              <a:avLst/>
              <a:gdLst/>
              <a:ahLst/>
              <a:cxnLst/>
              <a:rect r="r" b="b" t="t" l="l"/>
              <a:pathLst>
                <a:path h="6978527" w="8586555">
                  <a:moveTo>
                    <a:pt x="0" y="0"/>
                  </a:moveTo>
                  <a:lnTo>
                    <a:pt x="8586555" y="0"/>
                  </a:lnTo>
                  <a:lnTo>
                    <a:pt x="8586555" y="6978527"/>
                  </a:lnTo>
                  <a:lnTo>
                    <a:pt x="0" y="6978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712736" y="2109191"/>
              <a:ext cx="6684745" cy="38084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668"/>
                </a:lnSpc>
              </a:pPr>
              <a:r>
                <a:rPr lang="en-US" sz="5477" b="true">
                  <a:solidFill>
                    <a:srgbClr val="272D3A"/>
                  </a:solidFill>
                  <a:latin typeface="JetBrains Mono Bold"/>
                  <a:ea typeface="JetBrains Mono Bold"/>
                  <a:cs typeface="JetBrains Mono Bold"/>
                  <a:sym typeface="JetBrains Mono Bold"/>
                </a:rPr>
                <a:t>04. Measures of Dispersion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9414299" cy="779969"/>
            <a:chOff x="0" y="0"/>
            <a:chExt cx="2479486" cy="2054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79486" cy="205424"/>
            </a:xfrm>
            <a:custGeom>
              <a:avLst/>
              <a:gdLst/>
              <a:ahLst/>
              <a:cxnLst/>
              <a:rect r="r" b="b" t="t" l="l"/>
              <a:pathLst>
                <a:path h="205424" w="2479486">
                  <a:moveTo>
                    <a:pt x="0" y="0"/>
                  </a:moveTo>
                  <a:lnTo>
                    <a:pt x="2479486" y="0"/>
                  </a:lnTo>
                  <a:lnTo>
                    <a:pt x="2479486" y="205424"/>
                  </a:lnTo>
                  <a:lnTo>
                    <a:pt x="0" y="205424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79486" cy="243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90525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Measures of Dispersion: Range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1371794" y="2058071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3987344"/>
            <a:ext cx="13373247" cy="231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range is the simplest me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asur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o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disp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ersion.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Range = Maximum value − Minimum value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Example: [3, 7, 2, 9, 1] → Range = 9 − 1 = 8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+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10294703" cy="833875"/>
            <a:chOff x="0" y="0"/>
            <a:chExt cx="2711362" cy="2196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11362" cy="219622"/>
            </a:xfrm>
            <a:custGeom>
              <a:avLst/>
              <a:gdLst/>
              <a:ahLst/>
              <a:cxnLst/>
              <a:rect r="r" b="b" t="t" l="l"/>
              <a:pathLst>
                <a:path h="219622" w="2711362">
                  <a:moveTo>
                    <a:pt x="0" y="0"/>
                  </a:moveTo>
                  <a:lnTo>
                    <a:pt x="2711362" y="0"/>
                  </a:lnTo>
                  <a:lnTo>
                    <a:pt x="2711362" y="219622"/>
                  </a:lnTo>
                  <a:lnTo>
                    <a:pt x="0" y="219622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11362" cy="257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2195048" y="2119648"/>
            <a:ext cx="0" cy="153662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814173" y="1494159"/>
            <a:ext cx="4079168" cy="1521762"/>
          </a:xfrm>
          <a:custGeom>
            <a:avLst/>
            <a:gdLst/>
            <a:ahLst/>
            <a:cxnLst/>
            <a:rect r="r" b="b" t="t" l="l"/>
            <a:pathLst>
              <a:path h="1521762" w="4079168">
                <a:moveTo>
                  <a:pt x="0" y="0"/>
                </a:moveTo>
                <a:lnTo>
                  <a:pt x="4079168" y="0"/>
                </a:lnTo>
                <a:lnTo>
                  <a:pt x="4079168" y="1521762"/>
                </a:lnTo>
                <a:lnTo>
                  <a:pt x="0" y="152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98755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Measures of Dispersion: Variance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3987344"/>
            <a:ext cx="13373247" cy="360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average of the squared differences from the me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an. Measur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es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how spr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ead out the values are.</a:t>
            </a:r>
          </a:p>
          <a:p>
            <a:pPr algn="l">
              <a:lnSpc>
                <a:spcPts val="3219"/>
              </a:lnSpc>
            </a:pP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Low variance → values cluster tightly around the mean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High variance → values are scattered widely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E52C21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Problem:</a:t>
            </a: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Variance is in squared units (e.g., meters² for height data), making it hard to interpret directly.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+ 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12941955" cy="865315"/>
            <a:chOff x="0" y="0"/>
            <a:chExt cx="3408581" cy="2279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08581" cy="227902"/>
            </a:xfrm>
            <a:custGeom>
              <a:avLst/>
              <a:gdLst/>
              <a:ahLst/>
              <a:cxnLst/>
              <a:rect r="r" b="b" t="t" l="l"/>
              <a:pathLst>
                <a:path h="227902" w="3408581">
                  <a:moveTo>
                    <a:pt x="0" y="0"/>
                  </a:moveTo>
                  <a:lnTo>
                    <a:pt x="3408581" y="0"/>
                  </a:lnTo>
                  <a:lnTo>
                    <a:pt x="3408581" y="227902"/>
                  </a:lnTo>
                  <a:lnTo>
                    <a:pt x="0" y="227902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408581" cy="266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4842300" y="2119648"/>
            <a:ext cx="0" cy="153662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126187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Measures of Dispersion: Standard Deviation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00345" y="3987344"/>
            <a:ext cx="13373247" cy="480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square root of variance. Brings the me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asur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b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ack to the original unit of the data.</a:t>
            </a:r>
          </a:p>
          <a:p>
            <a:pPr algn="l">
              <a:lnSpc>
                <a:spcPts val="3219"/>
              </a:lnSpc>
            </a:pP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Low std dev → values cluster tightly around the mean</a:t>
            </a:r>
          </a:p>
          <a:p>
            <a:pPr algn="l" marL="496569" indent="-248284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High std dev → values are scattered widely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Example: Heights with mean = 170cm, Std Dev = 10cm → most people are within 160–180cm.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👉 Std Dev tells you: </a:t>
            </a:r>
            <a:r>
              <a:rPr lang="en-US" sz="2299" i="true" b="true">
                <a:solidFill>
                  <a:srgbClr val="FFFFFF"/>
                </a:solidFill>
                <a:latin typeface="JetBrains Mono Bold Italics"/>
                <a:ea typeface="JetBrains Mono Bold Italics"/>
                <a:cs typeface="JetBrains Mono Bold Italics"/>
                <a:sym typeface="JetBrains Mono Bold Italics"/>
              </a:rPr>
              <a:t>on average, how far is each value from the mean?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+ 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12383319" cy="865315"/>
            <a:chOff x="0" y="0"/>
            <a:chExt cx="3261450" cy="2279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61450" cy="227902"/>
            </a:xfrm>
            <a:custGeom>
              <a:avLst/>
              <a:gdLst/>
              <a:ahLst/>
              <a:cxnLst/>
              <a:rect r="r" b="b" t="t" l="l"/>
              <a:pathLst>
                <a:path h="227902" w="3261450">
                  <a:moveTo>
                    <a:pt x="0" y="0"/>
                  </a:moveTo>
                  <a:lnTo>
                    <a:pt x="3261450" y="0"/>
                  </a:lnTo>
                  <a:lnTo>
                    <a:pt x="3261450" y="227902"/>
                  </a:lnTo>
                  <a:lnTo>
                    <a:pt x="0" y="227902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261450" cy="266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4340814" y="2135368"/>
            <a:ext cx="0" cy="153662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905576" y="5045526"/>
            <a:ext cx="8612517" cy="4517838"/>
          </a:xfrm>
          <a:custGeom>
            <a:avLst/>
            <a:gdLst/>
            <a:ahLst/>
            <a:cxnLst/>
            <a:rect r="r" b="b" t="t" l="l"/>
            <a:pathLst>
              <a:path h="4517838" w="8612517">
                <a:moveTo>
                  <a:pt x="0" y="0"/>
                </a:moveTo>
                <a:lnTo>
                  <a:pt x="8612517" y="0"/>
                </a:lnTo>
                <a:lnTo>
                  <a:pt x="8612517" y="4517838"/>
                </a:lnTo>
                <a:lnTo>
                  <a:pt x="0" y="45178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120700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Measures of Dispersion: 5 number summary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3987344"/>
            <a:ext cx="13373247" cy="280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five number summ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ary giv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es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 compact picture of a dataset's spread: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(min, Q1, Q2, Q3, max)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+ 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00345" y="7451270"/>
            <a:ext cx="4787884" cy="14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The five number summ</a:t>
            </a: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ary i</a:t>
            </a: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</a:t>
            </a: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the</a:t>
            </a: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foundation of the box plot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12383319" cy="865315"/>
            <a:chOff x="0" y="0"/>
            <a:chExt cx="3261450" cy="2279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61450" cy="227902"/>
            </a:xfrm>
            <a:custGeom>
              <a:avLst/>
              <a:gdLst/>
              <a:ahLst/>
              <a:cxnLst/>
              <a:rect r="r" b="b" t="t" l="l"/>
              <a:pathLst>
                <a:path h="227902" w="3261450">
                  <a:moveTo>
                    <a:pt x="0" y="0"/>
                  </a:moveTo>
                  <a:lnTo>
                    <a:pt x="3261450" y="0"/>
                  </a:lnTo>
                  <a:lnTo>
                    <a:pt x="3261450" y="227902"/>
                  </a:lnTo>
                  <a:lnTo>
                    <a:pt x="0" y="227902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261450" cy="266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4340814" y="2135368"/>
            <a:ext cx="0" cy="153662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85039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Measures of Dispersion: IQR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00345" y="3987344"/>
            <a:ext cx="13373247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Represents the spread of the middle 50% of the data.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IQR (Interquartile Range) = Q3 − Q1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👉 IQR focuses on the middle 50% — robust to outliers unlike range.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+ 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924042" y="3129629"/>
            <a:ext cx="6439916" cy="5233895"/>
          </a:xfrm>
          <a:custGeom>
            <a:avLst/>
            <a:gdLst/>
            <a:ahLst/>
            <a:cxnLst/>
            <a:rect r="r" b="b" t="t" l="l"/>
            <a:pathLst>
              <a:path h="5233895" w="6439916">
                <a:moveTo>
                  <a:pt x="0" y="0"/>
                </a:moveTo>
                <a:lnTo>
                  <a:pt x="6439916" y="0"/>
                </a:lnTo>
                <a:lnTo>
                  <a:pt x="6439916" y="5233895"/>
                </a:lnTo>
                <a:lnTo>
                  <a:pt x="0" y="52338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458594" y="4685328"/>
            <a:ext cx="5013559" cy="937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8"/>
              </a:lnSpc>
            </a:pPr>
            <a:r>
              <a:rPr lang="en-US" sz="5477" b="true">
                <a:solidFill>
                  <a:srgbClr val="272D3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Outliers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12383319" cy="865315"/>
            <a:chOff x="0" y="0"/>
            <a:chExt cx="3261450" cy="2279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61450" cy="227902"/>
            </a:xfrm>
            <a:custGeom>
              <a:avLst/>
              <a:gdLst/>
              <a:ahLst/>
              <a:cxnLst/>
              <a:rect r="r" b="b" t="t" l="l"/>
              <a:pathLst>
                <a:path h="227902" w="3261450">
                  <a:moveTo>
                    <a:pt x="0" y="0"/>
                  </a:moveTo>
                  <a:lnTo>
                    <a:pt x="3261450" y="0"/>
                  </a:lnTo>
                  <a:lnTo>
                    <a:pt x="3261450" y="227902"/>
                  </a:lnTo>
                  <a:lnTo>
                    <a:pt x="0" y="227902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261450" cy="266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4340814" y="2135368"/>
            <a:ext cx="0" cy="153662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548986" y="4879178"/>
            <a:ext cx="4739014" cy="2826569"/>
          </a:xfrm>
          <a:custGeom>
            <a:avLst/>
            <a:gdLst/>
            <a:ahLst/>
            <a:cxnLst/>
            <a:rect r="r" b="b" t="t" l="l"/>
            <a:pathLst>
              <a:path h="2826569" w="4739014">
                <a:moveTo>
                  <a:pt x="0" y="0"/>
                </a:moveTo>
                <a:lnTo>
                  <a:pt x="4739014" y="0"/>
                </a:lnTo>
                <a:lnTo>
                  <a:pt x="4739014" y="2826569"/>
                </a:lnTo>
                <a:lnTo>
                  <a:pt x="0" y="28265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90525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Outlier Detection: IQR method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4051300"/>
            <a:ext cx="13373247" cy="520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 outlier is a data point that lies abnormally far from the rest of the dataset.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IQR Method:</a:t>
            </a:r>
          </a:p>
          <a:p>
            <a:pPr algn="l" marL="496569" indent="-248284" lvl="1">
              <a:lnSpc>
                <a:spcPts val="3219"/>
              </a:lnSpc>
              <a:buAutoNum type="arabicPeriod" startAt="1"/>
            </a:pPr>
            <a:r>
              <a:rPr lang="en-US" b="true" sz="22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Compute Q1 and Q3</a:t>
            </a:r>
          </a:p>
          <a:p>
            <a:pPr algn="l" marL="496569" indent="-248284" lvl="1">
              <a:lnSpc>
                <a:spcPts val="3219"/>
              </a:lnSpc>
              <a:buAutoNum type="arabicPeriod" startAt="1"/>
            </a:pPr>
            <a:r>
              <a:rPr lang="en-US" b="true" sz="22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Compute IQR = Q3 − Q1</a:t>
            </a:r>
          </a:p>
          <a:p>
            <a:pPr algn="l" marL="496569" indent="-248284" lvl="1">
              <a:lnSpc>
                <a:spcPts val="3219"/>
              </a:lnSpc>
              <a:buAutoNum type="arabicPeriod" startAt="1"/>
            </a:pP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Lower bound = Q1 − 1.5 × IQR</a:t>
            </a:r>
          </a:p>
          <a:p>
            <a:pPr algn="l" marL="496569" indent="-248284" lvl="1">
              <a:lnSpc>
                <a:spcPts val="3219"/>
              </a:lnSpc>
              <a:buAutoNum type="arabicPeriod" startAt="1"/>
            </a:pPr>
            <a:r>
              <a:rPr lang="en-US" b="true" sz="22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Upper bound = Q3 + 1.5 × IQR</a:t>
            </a:r>
          </a:p>
          <a:p>
            <a:pPr algn="l" marL="496569" indent="-248284" lvl="1">
              <a:lnSpc>
                <a:spcPts val="3219"/>
              </a:lnSpc>
              <a:buAutoNum type="arabicPeriod" startAt="1"/>
            </a:pPr>
            <a:r>
              <a:rPr lang="en-US" b="true" sz="22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Any value outside [Lower, Upper] is </a:t>
            </a:r>
            <a:r>
              <a:rPr lang="en-US" b="true" sz="2299">
                <a:solidFill>
                  <a:srgbClr val="E52C21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flagged</a:t>
            </a:r>
            <a:r>
              <a:rPr lang="en-US" b="true" sz="22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as an outlier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+ 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10543655" cy="865315"/>
            <a:chOff x="0" y="0"/>
            <a:chExt cx="2776930" cy="2279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76930" cy="227902"/>
            </a:xfrm>
            <a:custGeom>
              <a:avLst/>
              <a:gdLst/>
              <a:ahLst/>
              <a:cxnLst/>
              <a:rect r="r" b="b" t="t" l="l"/>
              <a:pathLst>
                <a:path h="227902" w="2776930">
                  <a:moveTo>
                    <a:pt x="0" y="0"/>
                  </a:moveTo>
                  <a:lnTo>
                    <a:pt x="2776930" y="0"/>
                  </a:lnTo>
                  <a:lnTo>
                    <a:pt x="2776930" y="227902"/>
                  </a:lnTo>
                  <a:lnTo>
                    <a:pt x="0" y="227902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76930" cy="266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2501150" y="2088287"/>
            <a:ext cx="0" cy="153662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10437020" cy="61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Spurious vs Non-Spurious Outliers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00345" y="3996869"/>
            <a:ext cx="13373247" cy="101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Not all outliers are equal. Before removing them, y</a:t>
            </a: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ou need to understand why they exist.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9020810"/>
            <a:ext cx="13373247" cy="408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👉 Blindly removing outliers can destroy the most interesting part of your data.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00345" y="4982582"/>
            <a:ext cx="6686624" cy="372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Spurious Outliers (Noise)</a:t>
            </a:r>
          </a:p>
          <a:p>
            <a:pPr algn="l">
              <a:lnSpc>
                <a:spcPts val="3330"/>
              </a:lnSpc>
            </a:pPr>
            <a:r>
              <a:rPr lang="en-US" sz="237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Caused by errors: data entry mistakes, sensor malfunctions, corrupted records.</a:t>
            </a:r>
          </a:p>
          <a:p>
            <a:pPr algn="l">
              <a:lnSpc>
                <a:spcPts val="3330"/>
              </a:lnSpc>
            </a:pPr>
            <a:r>
              <a:rPr lang="en-US" sz="237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→ These sh</a:t>
            </a:r>
            <a:r>
              <a:rPr lang="en-US" sz="237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ould usually be removed or corrected.</a:t>
            </a:r>
          </a:p>
          <a:p>
            <a:pPr algn="l">
              <a:lnSpc>
                <a:spcPts val="333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Example: A patient's age recorded as 320. Clearly an error.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0" y="4950776"/>
            <a:ext cx="6463794" cy="3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Non-Spurious Outliers (Real signal)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Genuine extreme values that reflect reality.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→ These sh</a:t>
            </a: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ould be kept and investigated.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Example: A transaction of $1,000,000 in a fraud detection dataset: this could be the fraud you're looking for.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924042" y="3129629"/>
            <a:ext cx="6439916" cy="5233895"/>
          </a:xfrm>
          <a:custGeom>
            <a:avLst/>
            <a:gdLst/>
            <a:ahLst/>
            <a:cxnLst/>
            <a:rect r="r" b="b" t="t" l="l"/>
            <a:pathLst>
              <a:path h="5233895" w="6439916">
                <a:moveTo>
                  <a:pt x="0" y="0"/>
                </a:moveTo>
                <a:lnTo>
                  <a:pt x="6439916" y="0"/>
                </a:lnTo>
                <a:lnTo>
                  <a:pt x="6439916" y="5233895"/>
                </a:lnTo>
                <a:lnTo>
                  <a:pt x="0" y="52338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458594" y="4685328"/>
            <a:ext cx="5740234" cy="191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8"/>
              </a:lnSpc>
            </a:pPr>
            <a:r>
              <a:rPr lang="en-US" sz="5477" b="true">
                <a:solidFill>
                  <a:srgbClr val="272D3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06. Distributions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5133700" cy="865315"/>
            <a:chOff x="0" y="0"/>
            <a:chExt cx="1352086" cy="2279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52086" cy="227902"/>
            </a:xfrm>
            <a:custGeom>
              <a:avLst/>
              <a:gdLst/>
              <a:ahLst/>
              <a:cxnLst/>
              <a:rect r="r" b="b" t="t" l="l"/>
              <a:pathLst>
                <a:path h="227902" w="1352086">
                  <a:moveTo>
                    <a:pt x="0" y="0"/>
                  </a:moveTo>
                  <a:lnTo>
                    <a:pt x="1352086" y="0"/>
                  </a:lnTo>
                  <a:lnTo>
                    <a:pt x="1352086" y="227902"/>
                  </a:lnTo>
                  <a:lnTo>
                    <a:pt x="0" y="227902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52086" cy="266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6976895" y="2135368"/>
            <a:ext cx="0" cy="153662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781157" y="3858205"/>
            <a:ext cx="15272772" cy="5200554"/>
          </a:xfrm>
          <a:custGeom>
            <a:avLst/>
            <a:gdLst/>
            <a:ahLst/>
            <a:cxnLst/>
            <a:rect r="r" b="b" t="t" l="l"/>
            <a:pathLst>
              <a:path h="5200554" w="15272772">
                <a:moveTo>
                  <a:pt x="0" y="0"/>
                </a:moveTo>
                <a:lnTo>
                  <a:pt x="15272772" y="0"/>
                </a:lnTo>
                <a:lnTo>
                  <a:pt x="15272772" y="5200554"/>
                </a:lnTo>
                <a:lnTo>
                  <a:pt x="0" y="52005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144000" y="1140020"/>
            <a:ext cx="7498600" cy="2662003"/>
          </a:xfrm>
          <a:custGeom>
            <a:avLst/>
            <a:gdLst/>
            <a:ahLst/>
            <a:cxnLst/>
            <a:rect r="r" b="b" t="t" l="l"/>
            <a:pathLst>
              <a:path h="2662003" w="7498600">
                <a:moveTo>
                  <a:pt x="0" y="0"/>
                </a:moveTo>
                <a:lnTo>
                  <a:pt x="7498600" y="0"/>
                </a:lnTo>
                <a:lnTo>
                  <a:pt x="7498600" y="2662003"/>
                </a:lnTo>
                <a:lnTo>
                  <a:pt x="0" y="26620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2006980" y="2516219"/>
            <a:ext cx="4669193" cy="61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06. Distributions</a:t>
            </a: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924042" y="3129629"/>
            <a:ext cx="6439916" cy="5233895"/>
          </a:xfrm>
          <a:custGeom>
            <a:avLst/>
            <a:gdLst/>
            <a:ahLst/>
            <a:cxnLst/>
            <a:rect r="r" b="b" t="t" l="l"/>
            <a:pathLst>
              <a:path h="5233895" w="6439916">
                <a:moveTo>
                  <a:pt x="0" y="0"/>
                </a:moveTo>
                <a:lnTo>
                  <a:pt x="6439916" y="0"/>
                </a:lnTo>
                <a:lnTo>
                  <a:pt x="6439916" y="5233895"/>
                </a:lnTo>
                <a:lnTo>
                  <a:pt x="0" y="52338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458594" y="4685328"/>
            <a:ext cx="5740234" cy="191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8"/>
              </a:lnSpc>
            </a:pPr>
            <a:r>
              <a:rPr lang="en-US" sz="5477" b="true">
                <a:solidFill>
                  <a:srgbClr val="272D3A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07. Correlation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4488511" cy="871771"/>
            <a:chOff x="0" y="0"/>
            <a:chExt cx="1182159" cy="2296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2159" cy="229602"/>
            </a:xfrm>
            <a:custGeom>
              <a:avLst/>
              <a:gdLst/>
              <a:ahLst/>
              <a:cxnLst/>
              <a:rect r="r" b="b" t="t" l="l"/>
              <a:pathLst>
                <a:path h="229602" w="1182159">
                  <a:moveTo>
                    <a:pt x="0" y="0"/>
                  </a:moveTo>
                  <a:lnTo>
                    <a:pt x="1182159" y="0"/>
                  </a:lnTo>
                  <a:lnTo>
                    <a:pt x="1182159" y="229602"/>
                  </a:lnTo>
                  <a:lnTo>
                    <a:pt x="0" y="229602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82159" cy="267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6446006" y="2138596"/>
            <a:ext cx="0" cy="153662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621922" y="4044494"/>
            <a:ext cx="11044157" cy="4978295"/>
          </a:xfrm>
          <a:custGeom>
            <a:avLst/>
            <a:gdLst/>
            <a:ahLst/>
            <a:cxnLst/>
            <a:rect r="r" b="b" t="t" l="l"/>
            <a:pathLst>
              <a:path h="4978295" w="11044157">
                <a:moveTo>
                  <a:pt x="0" y="0"/>
                </a:moveTo>
                <a:lnTo>
                  <a:pt x="11044156" y="0"/>
                </a:lnTo>
                <a:lnTo>
                  <a:pt x="11044156" y="4978296"/>
                </a:lnTo>
                <a:lnTo>
                  <a:pt x="0" y="49782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4119876" cy="61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07. Correlation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5392541" y="686682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71022"/>
            <a:ext cx="8163752" cy="871771"/>
            <a:chOff x="0" y="0"/>
            <a:chExt cx="2150124" cy="2296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0124" cy="229602"/>
            </a:xfrm>
            <a:custGeom>
              <a:avLst/>
              <a:gdLst/>
              <a:ahLst/>
              <a:cxnLst/>
              <a:rect r="r" b="b" t="t" l="l"/>
              <a:pathLst>
                <a:path h="229602" w="2150124">
                  <a:moveTo>
                    <a:pt x="0" y="0"/>
                  </a:moveTo>
                  <a:lnTo>
                    <a:pt x="2150124" y="0"/>
                  </a:lnTo>
                  <a:lnTo>
                    <a:pt x="2150124" y="229602"/>
                  </a:lnTo>
                  <a:lnTo>
                    <a:pt x="0" y="229602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50124" cy="267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0064097" y="2088287"/>
            <a:ext cx="0" cy="153662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900345" y="4139260"/>
            <a:ext cx="13665806" cy="5119040"/>
          </a:xfrm>
          <a:custGeom>
            <a:avLst/>
            <a:gdLst/>
            <a:ahLst/>
            <a:cxnLst/>
            <a:rect r="r" b="b" t="t" l="l"/>
            <a:pathLst>
              <a:path h="5119040" w="13665806">
                <a:moveTo>
                  <a:pt x="0" y="0"/>
                </a:moveTo>
                <a:lnTo>
                  <a:pt x="13665806" y="0"/>
                </a:lnTo>
                <a:lnTo>
                  <a:pt x="13665806" y="5119040"/>
                </a:lnTo>
                <a:lnTo>
                  <a:pt x="0" y="51190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7690436" cy="61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604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07. Correlation: Pearson’s R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49861" y="-1802600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4221435" cy="891769"/>
            <a:chOff x="0" y="0"/>
            <a:chExt cx="1111818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11818" cy="234869"/>
            </a:xfrm>
            <a:custGeom>
              <a:avLst/>
              <a:gdLst/>
              <a:ahLst/>
              <a:cxnLst/>
              <a:rect r="r" b="b" t="t" l="l"/>
              <a:pathLst>
                <a:path h="234869" w="1111818">
                  <a:moveTo>
                    <a:pt x="0" y="0"/>
                  </a:moveTo>
                  <a:lnTo>
                    <a:pt x="1111818" y="0"/>
                  </a:lnTo>
                  <a:lnTo>
                    <a:pt x="1111818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11818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6178930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057598" y="4453399"/>
            <a:ext cx="807720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📌 Everything we covered is the backbone of ML</a:t>
            </a:r>
          </a:p>
        </p:txBody>
      </p:sp>
      <p:sp>
        <p:nvSpPr>
          <p:cNvPr name="AutoShape 21" id="21"/>
          <p:cNvSpPr/>
          <p:nvPr/>
        </p:nvSpPr>
        <p:spPr>
          <a:xfrm flipH="true" flipV="true">
            <a:off x="2151344" y="4819159"/>
            <a:ext cx="0" cy="2512725"/>
          </a:xfrm>
          <a:prstGeom prst="line">
            <a:avLst/>
          </a:prstGeom>
          <a:ln cap="flat" w="57150">
            <a:solidFill>
              <a:srgbClr val="E7E5E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2006980" y="2516219"/>
            <a:ext cx="41148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08. Stats → ML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77420" y="5074676"/>
            <a:ext cx="5958840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Mean and std dev → Feature scaling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Correlation → Feature selection</a:t>
            </a: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Distributions → Model assumptions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Outlier detection → Data cleaning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428037" y="3752722"/>
            <a:ext cx="3431927" cy="3431927"/>
          </a:xfrm>
          <a:custGeom>
            <a:avLst/>
            <a:gdLst/>
            <a:ahLst/>
            <a:cxnLst/>
            <a:rect r="r" b="b" t="t" l="l"/>
            <a:pathLst>
              <a:path h="3431927" w="3431927">
                <a:moveTo>
                  <a:pt x="0" y="0"/>
                </a:moveTo>
                <a:lnTo>
                  <a:pt x="3431926" y="0"/>
                </a:lnTo>
                <a:lnTo>
                  <a:pt x="3431926" y="3431927"/>
                </a:lnTo>
                <a:lnTo>
                  <a:pt x="0" y="3431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86648" y="4727612"/>
            <a:ext cx="7314704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Any Questions 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78936" y="-23493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006980" y="4098221"/>
            <a:ext cx="14812572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Thank you for your attention ✨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900345" y="4231571"/>
            <a:ext cx="5056654" cy="1184910"/>
            <a:chOff x="0" y="0"/>
            <a:chExt cx="1331794" cy="3120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1794" cy="312075"/>
            </a:xfrm>
            <a:custGeom>
              <a:avLst/>
              <a:gdLst/>
              <a:ahLst/>
              <a:cxnLst/>
              <a:rect r="r" b="b" t="t" l="l"/>
              <a:pathLst>
                <a:path h="312075" w="1331794">
                  <a:moveTo>
                    <a:pt x="0" y="0"/>
                  </a:moveTo>
                  <a:lnTo>
                    <a:pt x="1331794" y="0"/>
                  </a:lnTo>
                  <a:lnTo>
                    <a:pt x="1331794" y="312075"/>
                  </a:lnTo>
                  <a:lnTo>
                    <a:pt x="0" y="312075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31794" cy="350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H="true" flipV="true">
            <a:off x="7014149" y="3853727"/>
            <a:ext cx="0" cy="1940596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844839" y="8147301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DAHBBld2kxk</dc:identifier>
  <dcterms:modified xsi:type="dcterms:W3CDTF">2011-08-01T06:04:30Z</dcterms:modified>
  <cp:revision>1</cp:revision>
  <dc:title>AI-School-1.5</dc:title>
</cp:coreProperties>
</file>